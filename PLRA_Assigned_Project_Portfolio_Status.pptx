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006837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06837"/>
                </a:solidFill>
                <a:latin typeface="Calibri"/>
              </a:rPr>
              <a:t>Assigned Project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4008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Project-wise status briefing — current status &amp; key updates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914400"/>
            <a:ext cx="854964" cy="3200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6524" y="914400"/>
            <a:ext cx="699516" cy="32004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54864" cy="10515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362456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18488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Arazi Moawin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7268" y="1234440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87268" y="1234440"/>
            <a:ext cx="54864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1860" y="1362456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1860" y="1618488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CLRMIS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234440"/>
            <a:ext cx="54864" cy="10515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362456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618488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E-Registration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8844" y="1234440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8844" y="1234440"/>
            <a:ext cx="54864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3436" y="1362456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3436" y="1618488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CIMS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432304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432304"/>
            <a:ext cx="54864" cy="10515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2560320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2816352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E-Girdawari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87268" y="2432304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87268" y="2432304"/>
            <a:ext cx="54864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1860" y="2560320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1860" y="2816352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Punjab Zameen App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2432304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6" y="2432304"/>
            <a:ext cx="54864" cy="10515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2560320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816352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Irrigation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8844" y="2432304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8844" y="2432304"/>
            <a:ext cx="54864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3436" y="2560320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3436" y="2816352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CMS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3630168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3630168"/>
            <a:ext cx="54864" cy="10515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3758183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" y="4014215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RCMS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87268" y="3630168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87268" y="3630168"/>
            <a:ext cx="54864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1860" y="3758183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51860" y="4014215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E-stamp Punjab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6" y="3630168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6" y="3630168"/>
            <a:ext cx="54864" cy="10515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8" y="3758183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4014215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E-stamp ICT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38844" y="3630168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38844" y="3630168"/>
            <a:ext cx="54864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03436" y="3758183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03436" y="4014215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DC Valuation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" y="4828031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1480" y="4828031"/>
            <a:ext cx="54864" cy="10515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" y="4956047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" y="5212079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MNP HUB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87268" y="4828031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87268" y="4828031"/>
            <a:ext cx="54864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51860" y="4956047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51860" y="5212079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Payment Gateway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63056" y="4828031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63056" y="4828031"/>
            <a:ext cx="54864" cy="10515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27648" y="4956047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7648" y="5212079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LMS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38844" y="4828031"/>
            <a:ext cx="2711196" cy="1051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38844" y="4828031"/>
            <a:ext cx="54864" cy="1051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03436" y="4956047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06837"/>
                </a:solidFill>
                <a:latin typeface="Calibri"/>
              </a:rPr>
              <a:t>16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03436" y="5212079"/>
            <a:ext cx="239115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Roznamcha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Punjab Land Records Authority (PLRA)  |  Assigned Project Portfolio — Status Briefing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006837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06837"/>
                </a:solidFill>
                <a:latin typeface="Calibri"/>
              </a:rPr>
              <a:t>Core Land &amp; Identity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4008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Arazi Moawin · CLRMIS · E-Registration · CIMS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914400"/>
            <a:ext cx="854964" cy="3200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6524" y="914400"/>
            <a:ext cx="699516" cy="32004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5586984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64008" cy="23774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170432"/>
            <a:ext cx="5312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Arazi Moawin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408176"/>
            <a:ext cx="53126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On track — UAT deployment planned; current sprint completed for UAT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10512"/>
            <a:ext cx="531266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Multi-Tehsil functionality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Territory-based admin access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Production / UAT issue resolution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e-Registry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097280"/>
            <a:ext cx="5586984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1097280"/>
            <a:ext cx="64008" cy="23774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170432"/>
            <a:ext cx="5312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CLRMIS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408176"/>
            <a:ext cx="53126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Release 12 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810512"/>
            <a:ext cx="531266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GPC enhancement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Fard Survey task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KMI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Security fixes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02736"/>
            <a:ext cx="5586984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602736"/>
            <a:ext cx="64008" cy="23774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675888"/>
            <a:ext cx="5312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E-Registration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913632"/>
            <a:ext cx="53126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Release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315968"/>
            <a:ext cx="531266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FBR integration enhancement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Arazi Moawin integration &amp; feedback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Audit logging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3602736"/>
            <a:ext cx="5586984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3602736"/>
            <a:ext cx="64008" cy="23774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3675888"/>
            <a:ext cx="5312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CIMS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913632"/>
            <a:ext cx="53126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Sprint 14 — integration work in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315968"/>
            <a:ext cx="531266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HSMS integration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CMS integration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Arazi Moawin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Punjab Land Records Authority (PLRA)  |  Assigned Project Portfolio — Status Briefing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006837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06837"/>
                </a:solidFill>
                <a:latin typeface="Calibri"/>
              </a:rPr>
              <a:t>Citizen Apps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4008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E-Girdawari · Punjab Zameen · Irrigation · CMS · RCMS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914400"/>
            <a:ext cx="854964" cy="3200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6524" y="914400"/>
            <a:ext cx="699516" cy="32004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3694176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64008" cy="25146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170432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E-Girdawari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408176"/>
            <a:ext cx="34198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Sprint 0 — Requirement gathering &amp; Figma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10512"/>
            <a:ext cx="3419856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Girdawari Figma completed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Irrigation design to be incorporated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Requirement gathering ongoing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CMS issues under resolution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3672" y="1097280"/>
            <a:ext cx="3694176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097280"/>
            <a:ext cx="64008" cy="25146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1170432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Punjab Zameen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1408176"/>
            <a:ext cx="34198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Release 2 — merging code for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1810512"/>
            <a:ext cx="3419856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CIMS, CMS, HSMS integrated on UAT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Nearest Arazi Moawin &amp; RCMS on UAT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All four integrations ready to go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3" y="1097280"/>
            <a:ext cx="3694176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3" y="1097280"/>
            <a:ext cx="64008" cy="25146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5" y="1170432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Irrigation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5" y="1408176"/>
            <a:ext cx="34198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Design phase — to be incorporated in Girdawari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5" y="1810512"/>
            <a:ext cx="3419856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Irrigation design activity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Figma / design coordination with Girdawari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749039"/>
            <a:ext cx="5605272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749039"/>
            <a:ext cx="64008" cy="246888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822191"/>
            <a:ext cx="53309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CMS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059935"/>
            <a:ext cx="53309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462272"/>
            <a:ext cx="533095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Department-wise &amp; pendency reports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Overdue / escalation workflow enhancements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Mobile-friendly 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CIMS integration: backend / UAT / sign-up / update APIs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3749039"/>
            <a:ext cx="5605272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44768" y="3749039"/>
            <a:ext cx="64008" cy="246888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3822191"/>
            <a:ext cx="53309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RCMS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059935"/>
            <a:ext cx="53309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On track — UAT / production activities in current sprint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462272"/>
            <a:ext cx="533095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Stay Order implementation in CLRMIS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SMBR Court Account updation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Punjab Zameen / Proclamation linkage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Punjab Land Records Authority (PLRA)  |  Assigned Project Portfolio — Status Briefing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006837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06837"/>
                </a:solidFill>
                <a:latin typeface="Calibri"/>
              </a:rPr>
              <a:t>Stamping, Valuation &amp;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4008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E-stamp · DC Valuation · MNP HUB · Payment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914400"/>
            <a:ext cx="854964" cy="3200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6524" y="914400"/>
            <a:ext cx="699516" cy="32004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051560"/>
            <a:ext cx="3706368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64008" cy="28803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124712"/>
            <a:ext cx="3432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E-stamp Punjab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362456"/>
            <a:ext cx="3432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Oct 2024 takeover — in-house development &amp;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64792"/>
            <a:ext cx="343204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Delivered: Central Hub SMS/MNP, GPC challan &amp; mapping, eRegistry APIs, stamp reprint, duty revision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In progress: Approved-map (sale deed), Sec. 9 exemption, Arazi Fard/Survey, PMD NO-call, eStamp GB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Next: Infra 2022, Court Copy API, Arazi Moawin vendor link, GIS DC calculator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7576" y="1051560"/>
            <a:ext cx="3706368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7576" y="1051560"/>
            <a:ext cx="64008" cy="28803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2168" y="1124712"/>
            <a:ext cx="3432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E-stamp 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2168" y="1362456"/>
            <a:ext cx="3432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Jan 2026 launched — in-house development &amp;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2168" y="1764792"/>
            <a:ext cx="343204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Delivered: Ufone SMS/OTP, adhesive stamp + QR, NITB payment API, email/agent download, DB 2022, DC import 2026–27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In progress: Stamp reprint &amp; support, refund process (testing), adhesive verification (web)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Next: M&amp;P for adhesive challan, delisting, refund training, Exchange Deed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3672" y="1051560"/>
            <a:ext cx="3706368" cy="2880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3672" y="1051560"/>
            <a:ext cx="64008" cy="28803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8264" y="1124712"/>
            <a:ext cx="3432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DC 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8264" y="1362456"/>
            <a:ext cx="3432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Apr 2025 launched — digital valuation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8264" y="1764792"/>
            <a:ext cx="3432048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Delivered: PERA &amp; Excise APIs, eStamp PUSH, GIS view/entry 2026–27, QR PDF, CLRMIS territory mapping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In progress: Rural/Urban corrigendum, FBR &amp; CIMS integration, E-Biz API (PULSE)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In progress: Urban property-area GIS mapping; CLRMIS territory 2026–27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069080"/>
            <a:ext cx="561441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069080"/>
            <a:ext cx="64008" cy="21488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142232"/>
            <a:ext cx="53400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MNP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379976"/>
            <a:ext cx="53400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Jan 2026 launched — in-house development &amp;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782312"/>
            <a:ext cx="5340096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Centralized CNIC–MSISDN pairing &amp; authentication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OTP-based mobile verification via centralized SMS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Reusable APIs for multiple PLRA applications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5624" y="4069080"/>
            <a:ext cx="5614416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35624" y="4069080"/>
            <a:ext cx="64008" cy="21488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216" y="4142232"/>
            <a:ext cx="53400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Payment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4379976"/>
            <a:ext cx="53400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31 Jul launched — in-house development &amp;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4782312"/>
            <a:ext cx="5340096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Delivered: Secure webhook, Payment Ledger, CSV export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In progress: Admin filters/analytics (district-wise), BOP reconciliation, new client onboarding (IP whitelist)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Punjab Land Records Authority (PLRA)  |  Assigned Project Portfolio — Status Briefing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006837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006837"/>
                </a:solidFill>
                <a:latin typeface="Calibri"/>
              </a:rPr>
              <a:t>LMS &amp; Roznamcha Takeovers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4008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September 2026 — in-house development &amp;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914400"/>
            <a:ext cx="854964" cy="3200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6524" y="914400"/>
            <a:ext cx="699516" cy="32004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5586984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64008" cy="5029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170432"/>
            <a:ext cx="5312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LMS (Learning Management System)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408176"/>
            <a:ext cx="53126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Sep 2026 takeover — in-house development &amp;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10512"/>
            <a:ext cx="5312664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Standardize training across departments &amp; regions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Digitize assessments, certifications &amp; learner records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Improve progress / compliance visibility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Automate admin effort via self-service workflows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Future: Digital Exam Portal with HRMS elevation exams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Biometric verification, secure Q-bank, CBT &amp; auto evaluation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HR/committee workflow; MPDD post-elevation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097280"/>
            <a:ext cx="5586984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1097280"/>
            <a:ext cx="64008" cy="5029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170432"/>
            <a:ext cx="53126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06837"/>
                </a:solidFill>
                <a:latin typeface="Calibri"/>
              </a:rPr>
              <a:t>Roznamcha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408176"/>
            <a:ext cx="53126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A4A4A"/>
                </a:solidFill>
                <a:latin typeface="Calibri"/>
              </a:rPr>
              <a:t>Status: Sep 2026 takeover — in-house development &amp;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810512"/>
            <a:ext cx="5312664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Digitize Roznamcha — capture واقعاتی entries by territory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Nambardar Registry — centralized نمبردار master records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Official Messaging — circulate ہدایات / پیغامات with attachments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Configurable Forms — add fields without full redevelopment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Leadership Visibility — dashboards &amp; territory filters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</a:rPr>
              <a:t>•  Official Reports — printable Urdu PDF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8A8A8A"/>
                </a:solidFill>
                <a:latin typeface="Calibri"/>
              </a:rPr>
              <a:t>Punjab Land Records Authority (PLRA)  |  Assigned Project Portfolio — Status Briefing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