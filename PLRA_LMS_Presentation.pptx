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03520" y="32004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31536" y="32004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59552" y="32004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87568" y="32004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15583" y="32004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0" y="32004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71616" y="32004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0" y="44805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31536" y="44805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9552" y="44805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87568" y="44805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15583" y="44805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44805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71616" y="44805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365760"/>
            <a:ext cx="457200" cy="45720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89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06837"/>
                </a:solidFill>
                <a:latin typeface="Calibri"/>
              </a:rPr>
              <a:t>PLRA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82880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600" b="1" i="0">
                <a:solidFill>
                  <a:srgbClr val="006837"/>
                </a:solidFill>
                <a:latin typeface="Calibri"/>
              </a:rPr>
              <a:t>LMS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006837"/>
                </a:solidFill>
                <a:latin typeface="Calibri"/>
              </a:rPr>
              <a:t>Learning Management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92040"/>
            <a:ext cx="6035040" cy="640080"/>
          </a:xfrm>
          <a:prstGeom prst="roundRect">
            <a:avLst>
              <a:gd name="adj" fmla="val 50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🌐   Website   lms.punjab-zameen.gov.pk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417320"/>
            <a:ext cx="3840480" cy="3931920"/>
          </a:xfrm>
          <a:prstGeom prst="roundRect">
            <a:avLst>
              <a:gd name="adj" fmla="val 12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lide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527048"/>
            <a:ext cx="3621024" cy="3712463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669280" y="27432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97296" y="27432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25312" y="27432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53328" y="27432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81344" y="27432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0" y="27432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40233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7296" y="40233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25312" y="40233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40233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81344" y="40233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0" y="40233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AGENDA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146304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1691640"/>
            <a:ext cx="46634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01  Project Background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02  Key Objectives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03  Purpose &amp; Scope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04  Types of Users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05  Role Dashboards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06  Core Platform Capabilities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46304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691640"/>
            <a:ext cx="46634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07  Learning &amp; Assessment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08  Certification &amp; Analytics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09  Application Workflows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10  Technology Stack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11  Operating Environment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12  Closing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PROJECT BACKGROUND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67665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LMS was developed to modernize and standardize learning across PLRA by providing a centralized digital platform for training, assessment, certification, and compliance management.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4A4A4A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4A4A4A"/>
                </a:solidFill>
                <a:latin typeface="Calibri"/>
              </a:rPr>
              <a:t>Traditional training processes often rely on manual coordination, fragmented records, and limited visibility into learner progress. LMS addresses these challenges by delivering a secure, scalable, and data-driven learning ecosystem that supports administrators, trainers, and learners through a single platform.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4A4A4A"/>
                </a:solidFill>
                <a:latin typeface="Calibri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325880"/>
            <a:ext cx="4023360" cy="4114800"/>
          </a:xfrm>
          <a:prstGeom prst="roundRect">
            <a:avLst>
              <a:gd name="adj" fmla="val 12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lid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1435607"/>
            <a:ext cx="3803904" cy="3895344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KEY OBJECTIVES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536192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Standardize training delivery across all departments and regions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2212848"/>
            <a:ext cx="292608" cy="29260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194560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Digitize assessments, certifications, and learner records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2871215"/>
            <a:ext cx="292608" cy="29260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852927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Improve visibility into training progress and compliance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3529583"/>
            <a:ext cx="292608" cy="29260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511295"/>
            <a:ext cx="6766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4A4A4A"/>
                </a:solidFill>
                <a:latin typeface="Calibri"/>
              </a:rPr>
              <a:t>Reduce administrative effort through automation and self-service workflows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1280160"/>
            <a:ext cx="3931920" cy="4023360"/>
          </a:xfrm>
          <a:prstGeom prst="roundRect">
            <a:avLst>
              <a:gd name="adj" fmla="val 12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lide_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7" y="1389888"/>
            <a:ext cx="3712463" cy="3803904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PURPOSE &amp; SCOPE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371600"/>
            <a:ext cx="11247120" cy="1554480"/>
          </a:xfrm>
          <a:prstGeom prst="roundRect">
            <a:avLst/>
          </a:prstGeom>
          <a:solidFill>
            <a:srgbClr val="E8F5EE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5087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874519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4A4A4A"/>
                </a:solidFill>
                <a:latin typeface="Calibri"/>
              </a:rPr>
              <a:t>PULSE LMS is a Laravel-based Learning Management System for PLRA that delivers CIMS authentication, role-based access, trainee onboarding, course delivery, quizzes, certificates, reports, notifications, support tickets, chat, forums, and protected media access — reflecting the software as implemented.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54680"/>
            <a:ext cx="557784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2918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IN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749039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CIMS login, RBAC, onboarding &amp; approvals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Courses, modules, lessons, quizzes &amp; media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Progress, certificates, badges &amp; reports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Alerts, support tickets, chat &amp; forums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154680"/>
            <a:ext cx="557784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918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OUT OF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749039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Authoring of legal training content itself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Video / translation / trainer-guide production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Content creation remains a project deliverable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LMS stores and delivers materials once ready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TYPES OF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192024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0" y="2240280"/>
            <a:ext cx="914400" cy="91440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38328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Super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Platform governance &amp;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192024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51960" y="2240280"/>
            <a:ext cx="914400" cy="91440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38328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88620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Learning operations &amp;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92024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0" y="2240280"/>
            <a:ext cx="914400" cy="91440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8328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Trainer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8620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Course delivery &amp; learner insights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1920240"/>
            <a:ext cx="269748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12680" y="2240280"/>
            <a:ext cx="914400" cy="91440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383280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Trainee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88620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Personalized learning journey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3153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955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8756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15583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3153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955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5583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82296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SUPER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2801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7A4A"/>
                </a:solidFill>
                <a:latin typeface="Calibri"/>
              </a:rPr>
              <a:t>Complete Platform Governance &amp;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6949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The Super Admin dashboard provides centralized oversight of the entire LMS ecosystem, enabling efficient management of administrators and trainers.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Key Responsibilities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3200400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82112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Manage Admin &amp; Trainer Accounts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3584448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Monitor Platform Health &amp; System Resources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3968496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95020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Configure Roles, Permissions &amp; Access Controls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352544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34256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Oversee Alerts, Compliance &amp; Governance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1234440"/>
            <a:ext cx="3977639" cy="4160520"/>
          </a:xfrm>
          <a:prstGeom prst="roundRect">
            <a:avLst>
              <a:gd name="adj" fmla="val 12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lide_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7" y="1344168"/>
            <a:ext cx="3758183" cy="3941063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3153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955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8756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15583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3153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955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5583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82296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2801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7A4A"/>
                </a:solidFill>
                <a:latin typeface="Calibri"/>
              </a:rPr>
              <a:t>Centralized Learning Operations &amp;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6949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The Admin dashboard serves as the operational hub of LMS, enabling efficient management of courses, trainers, trainees, approvals, and platform activities from a single interface.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Key Responsibilities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3200400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82112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Create &amp; Manage Courses, Categories &amp; Topics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3584448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Review &amp; Approve Trainee Registrations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3968496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95020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Manage Trainers, Ranks &amp; Learning Assignments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352544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34256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Publish Alerts &amp; System Notifications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4736592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18304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Oversee Media Library &amp; Learning Resources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120640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02352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Monitor Support Tickets &amp; User Activity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1234440"/>
            <a:ext cx="3977639" cy="4160520"/>
          </a:xfrm>
          <a:prstGeom prst="roundRect">
            <a:avLst>
              <a:gd name="adj" fmla="val 12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lide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7" y="1344168"/>
            <a:ext cx="3758183" cy="3941063"/>
          </a:xfrm>
          <a:prstGeom prst="rect">
            <a:avLst/>
          </a:prstGeom>
        </p:spPr>
      </p:pic>
    </p:spTree>
  </p:cSld>
  <p:clrMapOvr>
    <a:masterClrMapping/>
  </p:clrMapOvr>
  <p:transition spd="med" advClick="1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3153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955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8756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15583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3153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955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5583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82296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2801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7A4A"/>
                </a:solidFill>
                <a:latin typeface="Calibri"/>
              </a:rPr>
              <a:t>Empowering Instructors Through Data &amp;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6949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The Trainer dashboard provides a centralized workspace for managing assigned courses, monitoring learner progress, and tracking performance outcomes to ensure successful course delivery.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Key Responsibilities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3200400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82112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Manage Assigned Courses &amp; Learning Activities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3584448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Monitor Student Progress &amp; Course Completion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3968496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95020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Analyze Learner Performance &amp; Assessment Results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352544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34256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Identify At-Risk Learners Through Analytics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4736592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18304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Respond to Course-Related Support Tickets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120640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02352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Improve Learning Outcomes Through Data-Driven Insights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1234440"/>
            <a:ext cx="3977639" cy="4160520"/>
          </a:xfrm>
          <a:prstGeom prst="roundRect">
            <a:avLst>
              <a:gd name="adj" fmla="val 12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lide_obj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7" y="1344168"/>
            <a:ext cx="3758183" cy="3941063"/>
          </a:xfrm>
          <a:prstGeom prst="rect">
            <a:avLst/>
          </a:prstGeom>
        </p:spPr>
      </p:pic>
    </p:spTree>
  </p:cSld>
  <p:clrMapOvr>
    <a:masterClrMapping/>
  </p:clrMapOvr>
  <p:transition spd="med" advClick="1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3153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5955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8756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15583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0352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3153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5955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5583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82296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 i="0">
                <a:solidFill>
                  <a:srgbClr val="006837"/>
                </a:solidFill>
                <a:latin typeface="Calibri"/>
              </a:rPr>
              <a:t>TRAINEE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28016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7A4A"/>
                </a:solidFill>
                <a:latin typeface="Calibri"/>
              </a:rPr>
              <a:t>Your Learning. Your Progress. Your Growth.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1691640"/>
            <a:ext cx="69494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The Trainee dashboard provides a personalized learning experience, enabling users to access courses, track progress, manage learning activities, and achieve certification goals through a single, intuitive 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83464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Key Responsibilities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3200400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182112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Access Enrolled Courses &amp; Learning Materials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3584448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Track Lesson Progress &amp; Course Completion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3968496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95020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Monitor Study Hours &amp; Learning Performance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352544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34256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Stay Updated with Alerts &amp; Notifications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4736592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18304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Manage Calendar, Deadlines &amp; Learning Tasks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120640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02352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Create &amp; Track Support Tickets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" y="5504688"/>
            <a:ext cx="237744" cy="237744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86400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Earn Certificates Upon Course Completion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26679" y="1234440"/>
            <a:ext cx="3977639" cy="4160520"/>
          </a:xfrm>
          <a:prstGeom prst="roundRect">
            <a:avLst>
              <a:gd name="adj" fmla="val 12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lid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7" y="1344168"/>
            <a:ext cx="3758183" cy="3941063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CORE CAPABILITIES — ACCESS &amp; USERS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Authentication &amp;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CIMS login with PKCE for trainees, admins &amp; trainers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Role mapping and server-side session context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Auto-provision trainees; no auto-create for admins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Pending approval, profile completion &amp; logout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Role-specific dashboards for every user type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Admin: stats, enrollments &amp; performance links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Trainer: course and trainee metrics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Trainee: active courses, hours, badges &amp; calendar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User &amp; Master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Search, filter, activate/deactivate trainees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Approve/reject registrations &amp; assign ranks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Manage admins, trainers, education &amp; ranks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District / tehsil data and rank-course mapping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LEARNING DELIVERY &amp; 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Course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Create/edit bilingual courses, categories &amp; topics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Modules, lessons, quizzes, duration &amp; outcomes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Trainer &amp; rank assignment; activate/deactivate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Enrollment due dates and expired-course handling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Content &amp; Media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Videos, PDFs, documents, subtitles &amp; resources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Media library with folders and S3/MinIO storage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Protected streaming for authorized learners only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Block unauthorized direct media navigation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Quizzes &amp;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MCQ / fill-in quizzes with CSV question upload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Time limits, passing scores &amp; auto-grading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Lesson/course progress and study-hour tracking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Completion when lessons done &amp; quizzes passed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CERTIFICATION, ANALYTICS &amp; ENGAGEMENT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Certificates &amp; Badges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Auto-issue certificates on eligibility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Hash-based public certificate verification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Template, signature &amp; settings support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Gamification badges for learning milestones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Reports &amp;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Admin overview with charts &amp; summaries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Trainee/course progress with rich filters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District, tehsil, rank &amp; status dimensions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CSV export for operational reporting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1417320"/>
            <a:ext cx="3703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417320"/>
            <a:ext cx="91440" cy="420624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600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006837"/>
                </a:solidFill>
                <a:latin typeface="Calibri"/>
              </a:rPr>
              <a:t>Alerts &amp;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148840"/>
            <a:ext cx="32918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Admin alerts and deadline notifications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Notification history with read status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Support tickets, chat &amp; discussion forums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4A4A4A"/>
                </a:solidFill>
                <a:latin typeface="Calibri"/>
              </a:rPr>
              <a:t>•  System, certificate &amp; profile settings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APPLICATION WORKFLOWS — ACCESS &amp;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137160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155448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15727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01168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Select login mode and redirect to CIMS (PKCE)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Exchange code, resolve user/role, store session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Route to dashboard, profile, or pending approval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37160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155448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5727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Trainee 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1168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Authenticate via CIMS and provision local user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Complete profile fields and documents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Admin approves; trainee gains course access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79476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397764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9959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Course Creation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3484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Admin enters course structure and bilingual info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Attach media, modules, lessons and quizzes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Validate, save, assign and activate course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9476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397764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9959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Trainee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43484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Enroll / continue an active non-expired course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Complete lessons; system tracks progress &amp; time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Pass quizzes; certificate issued on eligibility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APPLICATION WORKFLOWS — ASSESSMENT &amp;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137160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4360" y="155448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15727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Course Expiry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01168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Due date = enrollment date + duration (days)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Overdue incomplete courses marked expired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Removed from active lists; content access blocked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37160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155448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5727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Quiz Attempt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01168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Start attempt with selected questions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Answer / skip / flag; finalize on submit or timeout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Auto-grade; show results; allow retry where enabled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79476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4360" y="397764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9959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Certificate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43484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Check lessons complete and quizzes passed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Issue certificate with hash and mark course done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Trainee views certificate; public verify by hash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94760"/>
            <a:ext cx="55321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46520" y="3977640"/>
            <a:ext cx="347472" cy="347472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99592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006837"/>
                </a:solidFill>
                <a:latin typeface="Calibri"/>
              </a:rPr>
              <a:t>Reports &amp; Notifications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434840"/>
            <a:ext cx="5074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Admin filters reports and exports CSV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Alerts and deadline notifications generated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4A4A4A"/>
                </a:solidFill>
                <a:latin typeface="Calibri"/>
              </a:rPr>
              <a:t>•  Users view, act, and mark notifications read</a:t>
            </a:r>
          </a:p>
        </p:txBody>
      </p:sp>
    </p:spTree>
  </p:cSld>
  <p:clrMapOvr>
    <a:masterClrMapping/>
  </p:clrMapOvr>
  <p:transition spd="med" advClick="1">
    <p:wipe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SUPPORT &amp; COMMUNICATION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011680"/>
            <a:ext cx="3566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74519" y="2331720"/>
            <a:ext cx="1005840" cy="100584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566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6837"/>
                </a:solidFill>
                <a:latin typeface="Calibri"/>
              </a:rPr>
              <a:t>Raise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690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User creates a support ticket or starts chat / forum interaction.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2011680"/>
            <a:ext cx="3566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0" y="2331720"/>
            <a:ext cx="1005840" cy="100584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566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6837"/>
                </a:solidFill>
                <a:latin typeface="Calibri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690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System stores messages, participants, attachments, and ticket status.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011680"/>
            <a:ext cx="35661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64040" y="2331720"/>
            <a:ext cx="1005840" cy="1005840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66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6837"/>
                </a:solidFill>
                <a:latin typeface="Calibri"/>
              </a:rPr>
              <a:t>Resolve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06908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Authorized users respond, update status, or moderate where permitted.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7135" y="-548640"/>
            <a:ext cx="2743200" cy="1645920"/>
          </a:xfrm>
          <a:prstGeom prst="roundRect">
            <a:avLst>
              <a:gd name="adj" fmla="val 25000"/>
            </a:avLst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-731520" y="5897880"/>
            <a:ext cx="6858000" cy="502920"/>
          </a:xfrm>
          <a:prstGeom prst="parallelogram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97280" y="6217920"/>
            <a:ext cx="7315200" cy="411480"/>
          </a:xfrm>
          <a:prstGeom prst="parallelogram">
            <a:avLst/>
          </a:prstGeom>
          <a:solidFill>
            <a:srgbClr val="1B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20095" y="5669280"/>
            <a:ext cx="2011680" cy="1645920"/>
          </a:xfrm>
          <a:prstGeom prst="roundRect">
            <a:avLst>
              <a:gd name="adj" fmla="val 20000"/>
            </a:avLst>
          </a:prstGeom>
          <a:solidFill>
            <a:srgbClr val="0B4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256032"/>
            <a:ext cx="384048" cy="384048"/>
          </a:xfrm>
          <a:prstGeom prst="ellipse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6837"/>
                </a:solidFill>
                <a:latin typeface="Calibri"/>
              </a:rPr>
              <a:t>PLRA - LMS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4416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42432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98464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6480" y="256032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4416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42432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70448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98464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84048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77724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006837"/>
                </a:solidFill>
                <a:latin typeface="Calibri"/>
              </a:rPr>
              <a:t>TECHNOLOGY STACK &amp; OPERATING 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3258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LMS is a server-rendered Laravel web application organized by domains. It runs with PHP-FPM and Nginx, uses a relational database, integrates with CIMS for authentication, and stores media via S3-compatible storage (MinIO).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14884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148840"/>
            <a:ext cx="2788920" cy="5029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24028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834640"/>
            <a:ext cx="2468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Laravel (PHP 8.2+)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Blade role-specific UI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Composer dependencies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Node / Vite frontend assets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214884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2148840"/>
            <a:ext cx="2788920" cy="5029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24028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2834640"/>
            <a:ext cx="2468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Docker containers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Nginx reverse proxy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PHP-FPM app runtime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Queue &amp; scheduler workers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214884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148840"/>
            <a:ext cx="2788920" cy="5029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24028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Data &amp; 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834640"/>
            <a:ext cx="2468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Relational database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S3 / MinIO object storage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Persistent volumes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CSV reporting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2148840"/>
            <a:ext cx="27889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F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2148840"/>
            <a:ext cx="2788920" cy="50292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224028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834640"/>
            <a:ext cx="24688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CIMS auth (PKCE)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SMTP / mail services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HTTPS termination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4A4A4A"/>
                </a:solidFill>
                <a:latin typeface="Calibri"/>
              </a:rPr>
              <a:t>•  Modern browser clients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108960"/>
          </a:xfrm>
          <a:prstGeom prst="rect">
            <a:avLst/>
          </a:prstGeom>
          <a:solidFill>
            <a:srgbClr val="006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57216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85232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13248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41264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97296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25312" y="365760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57216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85232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13248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41264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97296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25312" y="493776"/>
            <a:ext cx="54864" cy="54864"/>
          </a:xfrm>
          <a:prstGeom prst="ellipse">
            <a:avLst/>
          </a:prstGeom>
          <a:solidFill>
            <a:srgbClr val="2F9E6B">
              <a:lumMod val="65000"/>
              <a:lumOff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15000" y="2057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006837"/>
                </a:solidFill>
                <a:latin typeface="Calibri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D8F0E4"/>
                </a:solidFill>
                <a:latin typeface="Calibri"/>
              </a:rPr>
              <a:t>PLRA LMS — Modernizing Learning Across Punjab Land Records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lms.punjab-zameen.gov.pk  |  Punjab Land Records Authority (PLRA)</a:t>
            </a:r>
          </a:p>
        </p:txBody>
      </p:sp>
    </p:spTree>
  </p:cSld>
  <p:clrMapOvr>
    <a:masterClrMapping/>
  </p:clrMapOvr>
  <p:transition spd="med" advClick="1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