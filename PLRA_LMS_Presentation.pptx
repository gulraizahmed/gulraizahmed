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212080" y="320040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330952" y="320040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49824" y="320040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68696" y="320040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87568" y="320040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06440" y="320040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25312" y="320040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12080" y="43891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30952" y="43891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49824" y="43891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568696" y="43891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87568" y="43891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06440" y="43891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25312" y="43891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365760"/>
            <a:ext cx="438912" cy="438912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3891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6837"/>
                </a:solidFill>
                <a:latin typeface="Calibri"/>
              </a:rPr>
              <a:t>PLRA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874519"/>
            <a:ext cx="7132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6400" b="1" i="0">
                <a:solidFill>
                  <a:srgbClr val="006837"/>
                </a:solidFill>
                <a:latin typeface="Calibri"/>
              </a:rPr>
              <a:t>LMS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880360"/>
            <a:ext cx="7132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6837"/>
                </a:solidFill>
                <a:latin typeface="Calibri"/>
              </a:rPr>
              <a:t>Learning Management System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92040"/>
            <a:ext cx="6217920" cy="594360"/>
          </a:xfrm>
          <a:prstGeom prst="roundRect">
            <a:avLst>
              <a:gd name="adj" fmla="val 40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Website  |  lms.punjab-zameen.gov.pk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1417320"/>
            <a:ext cx="3840480" cy="4023360"/>
          </a:xfrm>
          <a:prstGeom prst="roundRect">
            <a:avLst>
              <a:gd name="adj" fmla="val 10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46136" y="1545336"/>
            <a:ext cx="3584448" cy="3767328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38160" y="1828800"/>
            <a:ext cx="12344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55480" y="1828800"/>
            <a:ext cx="12344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38160" y="269748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38160" y="4251960"/>
            <a:ext cx="26517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92440" y="48006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PULSE LMS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" dur="50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13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"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16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" dur="50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48640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527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414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4301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6188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8076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9963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527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414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4301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6188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8076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9963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77724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AGENDA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1417320"/>
            <a:ext cx="53492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1645920"/>
            <a:ext cx="475488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4A4A"/>
                </a:solidFill>
                <a:latin typeface="Calibri"/>
              </a:rPr>
              <a:t>01  Project Background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4A4A"/>
                </a:solidFill>
                <a:latin typeface="Calibri"/>
              </a:rPr>
              <a:t>02  Key Objectives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4A4A"/>
                </a:solidFill>
                <a:latin typeface="Calibri"/>
              </a:rPr>
              <a:t>03  Purpose &amp; Scope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4A4A"/>
                </a:solidFill>
                <a:latin typeface="Calibri"/>
              </a:rPr>
              <a:t>04  Types of Users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4A4A"/>
                </a:solidFill>
                <a:latin typeface="Calibri"/>
              </a:rPr>
              <a:t>05  Role Dashboards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4A4A"/>
                </a:solidFill>
                <a:latin typeface="Calibri"/>
              </a:rPr>
              <a:t>06  Core Platform Capabilities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1417320"/>
            <a:ext cx="53492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1645920"/>
            <a:ext cx="475488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4A4A"/>
                </a:solidFill>
                <a:latin typeface="Calibri"/>
              </a:rPr>
              <a:t>07  Learning &amp; Assessment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4A4A"/>
                </a:solidFill>
                <a:latin typeface="Calibri"/>
              </a:rPr>
              <a:t>08  Certification &amp; Analytics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4A4A"/>
                </a:solidFill>
                <a:latin typeface="Calibri"/>
              </a:rPr>
              <a:t>09  Application Workflows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4A4A"/>
                </a:solidFill>
                <a:latin typeface="Calibri"/>
              </a:rPr>
              <a:t>10  Technology Stack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4A4A"/>
                </a:solidFill>
                <a:latin typeface="Calibri"/>
              </a:rPr>
              <a:t>11  Operating Environment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4A4A"/>
                </a:solidFill>
                <a:latin typeface="Calibri"/>
              </a:rPr>
              <a:t>12  Closing</a:t>
            </a:r>
          </a:p>
        </p:txBody>
      </p:sp>
    </p:spTree>
  </p:cSld>
  <p:clrMapOvr>
    <a:masterClrMapping/>
  </p:clrMapOvr>
  <p:transition spd="med" advClick="1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"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22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" dur="50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48640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527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414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4301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6188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8076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9963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527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414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4301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6188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8076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9963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77724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PROJECT BACKGROUND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417320"/>
            <a:ext cx="6858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4A4A"/>
                </a:solidFill>
                <a:latin typeface="Calibri"/>
              </a:rPr>
              <a:t>LMS was developed to modernize and standardize learning across PLRA by providing a centralized digital platform for training, assessment, certification, and compliance management.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4A4A"/>
                </a:solidFill>
                <a:latin typeface="Calibri"/>
              </a:rPr>
              <a:t>Traditional training processes often rely on manual coordination, fragmented records, and limited visibility into learner progress. LMS addresses these challenges by delivering a secure, scalable, and data-driven learning ecosystem that supports administrators, trainers, and learners through a single platform.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80960" y="1325880"/>
            <a:ext cx="3977639" cy="4114800"/>
          </a:xfrm>
          <a:prstGeom prst="roundRect">
            <a:avLst>
              <a:gd name="adj" fmla="val 10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808976" y="1453895"/>
            <a:ext cx="3721607" cy="3858768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01000" y="1737360"/>
            <a:ext cx="12344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18320" y="1737360"/>
            <a:ext cx="12344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01000" y="2606039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01000" y="4160520"/>
            <a:ext cx="26517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0" y="4800600"/>
            <a:ext cx="34289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Centralized Learning</a:t>
            </a:r>
          </a:p>
        </p:txBody>
      </p:sp>
    </p:spTree>
  </p:cSld>
  <p:clrMapOvr>
    <a:masterClrMapping/>
  </p:clrMapOvr>
  <p:transition spd="med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"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48640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527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414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4301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6188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8076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9963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527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414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4301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6188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8076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9963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77724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KEY OBJECTIVES</a:t>
            </a:r>
          </a:p>
        </p:txBody>
      </p:sp>
      <p:sp>
        <p:nvSpPr>
          <p:cNvPr id="24" name="Oval 23"/>
          <p:cNvSpPr/>
          <p:nvPr/>
        </p:nvSpPr>
        <p:spPr>
          <a:xfrm>
            <a:off x="502920" y="1554480"/>
            <a:ext cx="274320" cy="27432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1536192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4A4A"/>
                </a:solidFill>
                <a:latin typeface="Calibri"/>
              </a:rPr>
              <a:t>Standardize training delivery across all departments and regions</a:t>
            </a:r>
          </a:p>
        </p:txBody>
      </p:sp>
      <p:sp>
        <p:nvSpPr>
          <p:cNvPr id="31" name="Oval 30"/>
          <p:cNvSpPr/>
          <p:nvPr/>
        </p:nvSpPr>
        <p:spPr>
          <a:xfrm>
            <a:off x="502920" y="2194560"/>
            <a:ext cx="274320" cy="27432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2176272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4A4A"/>
                </a:solidFill>
                <a:latin typeface="Calibri"/>
              </a:rPr>
              <a:t>Digitize assessments, certifications, and learner records</a:t>
            </a:r>
          </a:p>
        </p:txBody>
      </p:sp>
      <p:sp>
        <p:nvSpPr>
          <p:cNvPr id="34" name="Oval 33"/>
          <p:cNvSpPr/>
          <p:nvPr/>
        </p:nvSpPr>
        <p:spPr>
          <a:xfrm>
            <a:off x="502920" y="2834639"/>
            <a:ext cx="274320" cy="27432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&gt;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816351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4A4A"/>
                </a:solidFill>
                <a:latin typeface="Calibri"/>
              </a:rPr>
              <a:t>Improve visibility into training progress and compliance status</a:t>
            </a:r>
          </a:p>
        </p:txBody>
      </p:sp>
      <p:sp>
        <p:nvSpPr>
          <p:cNvPr id="37" name="Oval 36"/>
          <p:cNvSpPr/>
          <p:nvPr/>
        </p:nvSpPr>
        <p:spPr>
          <a:xfrm>
            <a:off x="502920" y="3474720"/>
            <a:ext cx="274320" cy="27432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&gt;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3456432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4A4A"/>
                </a:solidFill>
                <a:latin typeface="Calibri"/>
              </a:rPr>
              <a:t>Reduce administrative effort through automation and self-service workflows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0" y="1280160"/>
            <a:ext cx="3886200" cy="4069080"/>
          </a:xfrm>
          <a:prstGeom prst="roundRect">
            <a:avLst>
              <a:gd name="adj" fmla="val 10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900416" y="1408176"/>
            <a:ext cx="3630168" cy="3813048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92440" y="1691639"/>
            <a:ext cx="12344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509760" y="1691639"/>
            <a:ext cx="12344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092440" y="2560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092440" y="4114800"/>
            <a:ext cx="26517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0" y="4709159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Objectives</a:t>
            </a:r>
          </a:p>
        </p:txBody>
      </p:sp>
    </p:spTree>
  </p:cSld>
  <p:clrMapOvr>
    <a:masterClrMapping/>
  </p:clrMapOvr>
  <p:transition spd="med" advClick="1">
    <p:cover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" dur="50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31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" dur="50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  <p:par>
                    <p:cTn id="34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" dur="500"/>
                            <p:tgtEl>
                              <p:spTgt spid="35"/>
                            </p:tgtEl>
                          </p:cBhvr>
                        </p:animEffect>
                      </p:childTnLst>
                    </p:cTn>
                  </p:par>
                  <p:par>
                    <p:cTn id="37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" dur="500"/>
                            <p:tgtEl>
                              <p:spTgt spid="3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48640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527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414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4301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6188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8076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9963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527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414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4301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6188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8076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9963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77724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PURPOSE &amp; SCOPE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1325880"/>
            <a:ext cx="11247120" cy="150876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1417320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PURPOSE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1783080"/>
            <a:ext cx="10789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PULSE LMS is a Laravel-based Learning Management System for PLRA with CIMS authentication, role-based access, trainee onboarding, course delivery, quizzes, certificates, reports, notifications, support tickets, chat, forums, and protected media access.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3063240"/>
            <a:ext cx="557784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320040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IN SCOPE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365760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•  CIMS login, RBAC, onboarding &amp; approvals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•  Courses, modules, lessons, quizzes &amp; media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•  Progress, certificates, badges &amp; reports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•  Alerts, support tickets, chat &amp; forums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3063240"/>
            <a:ext cx="557784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320040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OUT OF SCOPE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365760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•  Authoring of legal training content itself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•  Video / translation / trainer-guide production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•  Content creation as a separate project deliverable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•  LMS stores and delivers materials once ready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0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"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43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" dur="500"/>
                            <p:tgtEl>
                              <p:spTgt spid="43"/>
                            </p:tgtEl>
                          </p:cBhvr>
                        </p:animEffect>
                      </p:childTnLst>
                    </p:cTn>
                  </p:par>
                  <p:par>
                    <p:cTn id="46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" dur="500"/>
                            <p:tgtEl>
                              <p:spTgt spid="4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48640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527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414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4301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6188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8076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9963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527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414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4301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6188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8076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9963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77724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TYPES OF USERS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1828800"/>
            <a:ext cx="2697480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71600" y="2148840"/>
            <a:ext cx="914400" cy="91440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291840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Super Admin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794760"/>
            <a:ext cx="2423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Platform governance &amp; control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383280" y="1828800"/>
            <a:ext cx="2697480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51960" y="2148840"/>
            <a:ext cx="914400" cy="91440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20440" y="3291840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Admin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20440" y="3794760"/>
            <a:ext cx="2423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Learning operations &amp; management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63640" y="1828800"/>
            <a:ext cx="2697480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32320" y="2148840"/>
            <a:ext cx="914400" cy="91440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3291840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Trainer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3794760"/>
            <a:ext cx="2423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Course delivery &amp; learner insights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44000" y="1828800"/>
            <a:ext cx="2697480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012680" y="2148840"/>
            <a:ext cx="914400" cy="91440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81160" y="3291840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Trainee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81160" y="3794760"/>
            <a:ext cx="2423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Personalized learning journey</a:t>
            </a:r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9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"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52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" dur="500"/>
                            <p:tgtEl>
                              <p:spTgt spid="52"/>
                            </p:tgtEl>
                          </p:cBhvr>
                        </p:animEffect>
                      </p:childTnLst>
                    </p:cTn>
                  </p:par>
                  <p:par>
                    <p:cTn id="55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" dur="500"/>
                            <p:tgtEl>
                              <p:spTgt spid="56"/>
                            </p:tgtEl>
                          </p:cBhvr>
                        </p:animEffect>
                      </p:childTnLst>
                    </p:cTn>
                  </p:par>
                  <p:par>
                    <p:cTn id="58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" dur="500"/>
                            <p:tgtEl>
                              <p:spTgt spid="6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30352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2239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4126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6013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7900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9788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01675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0352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2239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4126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013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7900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9788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1675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777240"/>
            <a:ext cx="7132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06837"/>
                </a:solidFill>
                <a:latin typeface="Calibri"/>
              </a:rPr>
              <a:t>SUPER ADMIN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234440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B7A4A"/>
                </a:solidFill>
                <a:latin typeface="Calibri"/>
              </a:rPr>
              <a:t>Complete Platform Governance &amp;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645920"/>
            <a:ext cx="68580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The Super Admin dashboard provides centralized oversight of the entire LMS ecosystem, enabling efficient management of administrators and trainers.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69748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Key Responsibilities</a:t>
            </a:r>
          </a:p>
        </p:txBody>
      </p:sp>
      <p:sp>
        <p:nvSpPr>
          <p:cNvPr id="27" name="Oval 26"/>
          <p:cNvSpPr/>
          <p:nvPr/>
        </p:nvSpPr>
        <p:spPr>
          <a:xfrm>
            <a:off x="502920" y="306324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04495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Manage Admin &amp; Trainer Accounts</a:t>
            </a:r>
          </a:p>
        </p:txBody>
      </p:sp>
      <p:sp>
        <p:nvSpPr>
          <p:cNvPr id="64" name="Oval 63"/>
          <p:cNvSpPr/>
          <p:nvPr/>
        </p:nvSpPr>
        <p:spPr>
          <a:xfrm>
            <a:off x="502920" y="342900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" y="341071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Monitor Platform Health &amp; System Resources</a:t>
            </a:r>
          </a:p>
        </p:txBody>
      </p:sp>
      <p:sp>
        <p:nvSpPr>
          <p:cNvPr id="67" name="Oval 66"/>
          <p:cNvSpPr/>
          <p:nvPr/>
        </p:nvSpPr>
        <p:spPr>
          <a:xfrm>
            <a:off x="502920" y="379476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8680" y="377647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Configure Roles, Permissions &amp; Access Controls</a:t>
            </a:r>
          </a:p>
        </p:txBody>
      </p:sp>
      <p:sp>
        <p:nvSpPr>
          <p:cNvPr id="70" name="Oval 69"/>
          <p:cNvSpPr/>
          <p:nvPr/>
        </p:nvSpPr>
        <p:spPr>
          <a:xfrm>
            <a:off x="502920" y="416052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8680" y="414223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Oversee Alerts, Compliance &amp; Governance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726679" y="1188720"/>
            <a:ext cx="3931920" cy="4160520"/>
          </a:xfrm>
          <a:prstGeom prst="roundRect">
            <a:avLst>
              <a:gd name="adj" fmla="val 10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854696" y="1316736"/>
            <a:ext cx="3675887" cy="3904487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046719" y="1600200"/>
            <a:ext cx="12344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464040" y="1600200"/>
            <a:ext cx="12344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046719" y="246888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8046719" y="4023360"/>
            <a:ext cx="26517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01000" y="4709159"/>
            <a:ext cx="33832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Super Admin</a:t>
            </a:r>
          </a:p>
        </p:txBody>
      </p:sp>
    </p:spTree>
  </p:cSld>
  <p:clrMapOvr>
    <a:masterClrMapping/>
  </p:clrMapOvr>
  <p:transition spd="med" advClick="1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1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" dur="50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64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" dur="500"/>
                            <p:tgtEl>
                              <p:spTgt spid="64"/>
                            </p:tgtEl>
                          </p:cBhvr>
                        </p:animEffect>
                      </p:childTnLst>
                    </p:cTn>
                  </p:par>
                  <p:par>
                    <p:cTn id="67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" dur="500"/>
                            <p:tgtEl>
                              <p:spTgt spid="67"/>
                            </p:tgtEl>
                          </p:cBhvr>
                        </p:animEffect>
                      </p:childTnLst>
                    </p:cTn>
                  </p:par>
                  <p:par>
                    <p:cTn id="70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2" dur="500"/>
                            <p:tgtEl>
                              <p:spTgt spid="7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30352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2239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4126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6013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7900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9788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01675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0352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2239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4126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013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7900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9788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1675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777240"/>
            <a:ext cx="7132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06837"/>
                </a:solidFill>
                <a:latin typeface="Calibri"/>
              </a:rPr>
              <a:t>ADMIN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234440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B7A4A"/>
                </a:solidFill>
                <a:latin typeface="Calibri"/>
              </a:rPr>
              <a:t>Centralized Learning Operations &amp;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645920"/>
            <a:ext cx="68580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The Admin dashboard serves as the operational hub of LMS for courses, trainers, trainees, approvals, and platform activities.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69748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Key Responsibilities</a:t>
            </a:r>
          </a:p>
        </p:txBody>
      </p:sp>
      <p:sp>
        <p:nvSpPr>
          <p:cNvPr id="27" name="Oval 26"/>
          <p:cNvSpPr/>
          <p:nvPr/>
        </p:nvSpPr>
        <p:spPr>
          <a:xfrm>
            <a:off x="502920" y="306324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04495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Create &amp; Manage Courses, Categories &amp; Topics</a:t>
            </a:r>
          </a:p>
        </p:txBody>
      </p:sp>
      <p:sp>
        <p:nvSpPr>
          <p:cNvPr id="76" name="Oval 75"/>
          <p:cNvSpPr/>
          <p:nvPr/>
        </p:nvSpPr>
        <p:spPr>
          <a:xfrm>
            <a:off x="502920" y="342900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8680" y="341071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Review &amp; Approve Trainee Registrations</a:t>
            </a:r>
          </a:p>
        </p:txBody>
      </p:sp>
      <p:sp>
        <p:nvSpPr>
          <p:cNvPr id="79" name="Oval 78"/>
          <p:cNvSpPr/>
          <p:nvPr/>
        </p:nvSpPr>
        <p:spPr>
          <a:xfrm>
            <a:off x="502920" y="379476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377647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Manage Trainers, Ranks &amp; Learning Assignments</a:t>
            </a:r>
          </a:p>
        </p:txBody>
      </p:sp>
      <p:sp>
        <p:nvSpPr>
          <p:cNvPr id="82" name="Oval 81"/>
          <p:cNvSpPr/>
          <p:nvPr/>
        </p:nvSpPr>
        <p:spPr>
          <a:xfrm>
            <a:off x="502920" y="416052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68680" y="414223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Publish Alerts &amp; System Notifications</a:t>
            </a:r>
          </a:p>
        </p:txBody>
      </p:sp>
      <p:sp>
        <p:nvSpPr>
          <p:cNvPr id="85" name="Oval 84"/>
          <p:cNvSpPr/>
          <p:nvPr/>
        </p:nvSpPr>
        <p:spPr>
          <a:xfrm>
            <a:off x="502920" y="452628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8680" y="450799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Oversee Media Library &amp; Learning Resources</a:t>
            </a:r>
          </a:p>
        </p:txBody>
      </p:sp>
      <p:sp>
        <p:nvSpPr>
          <p:cNvPr id="88" name="Oval 87"/>
          <p:cNvSpPr/>
          <p:nvPr/>
        </p:nvSpPr>
        <p:spPr>
          <a:xfrm>
            <a:off x="502920" y="489204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7375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Monitor Support Tickets &amp; User Activity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726679" y="1188720"/>
            <a:ext cx="3931920" cy="4160520"/>
          </a:xfrm>
          <a:prstGeom prst="roundRect">
            <a:avLst>
              <a:gd name="adj" fmla="val 10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7854696" y="1316736"/>
            <a:ext cx="3675887" cy="3904487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8046719" y="1600200"/>
            <a:ext cx="12344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9464040" y="1600200"/>
            <a:ext cx="12344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046719" y="246888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046719" y="4023360"/>
            <a:ext cx="26517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01000" y="4709159"/>
            <a:ext cx="33832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Admin Hub</a:t>
            </a:r>
          </a:p>
        </p:txBody>
      </p:sp>
    </p:spTree>
  </p:cSld>
  <p:clrMapOvr>
    <a:masterClrMapping/>
  </p:clrMapOvr>
  <p:transition spd="med" advClick="1">
    <p:cover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3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5" dur="50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76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8" dur="500"/>
                            <p:tgtEl>
                              <p:spTgt spid="76"/>
                            </p:tgtEl>
                          </p:cBhvr>
                        </p:animEffect>
                      </p:childTnLst>
                    </p:cTn>
                  </p:par>
                  <p:par>
                    <p:cTn id="79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1" dur="500"/>
                            <p:tgtEl>
                              <p:spTgt spid="79"/>
                            </p:tgtEl>
                          </p:cBhvr>
                        </p:animEffect>
                      </p:childTnLst>
                    </p:cTn>
                  </p:par>
                  <p:par>
                    <p:cTn id="82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4" dur="500"/>
                            <p:tgtEl>
                              <p:spTgt spid="82"/>
                            </p:tgtEl>
                          </p:cBhvr>
                        </p:animEffect>
                      </p:childTnLst>
                    </p:cTn>
                  </p:par>
                  <p:par>
                    <p:cTn id="85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7" dur="500"/>
                            <p:tgtEl>
                              <p:spTgt spid="85"/>
                            </p:tgtEl>
                          </p:cBhvr>
                        </p:animEffect>
                      </p:childTnLst>
                    </p:cTn>
                  </p:par>
                  <p:par>
                    <p:cTn id="88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0" dur="500"/>
                            <p:tgtEl>
                              <p:spTgt spid="8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30352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2239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4126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6013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7900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9788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01675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0352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2239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4126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013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7900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9788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1675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777240"/>
            <a:ext cx="7132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06837"/>
                </a:solidFill>
                <a:latin typeface="Calibri"/>
              </a:rPr>
              <a:t>TRAINER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234440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B7A4A"/>
                </a:solidFill>
                <a:latin typeface="Calibri"/>
              </a:rPr>
              <a:t>Empowering Instructors Through Data &amp; Insights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645920"/>
            <a:ext cx="68580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The Trainer dashboard provides a workspace for managing assigned courses, monitoring learner progress, and tracking performance outcomes.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69748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Key Responsibilities</a:t>
            </a:r>
          </a:p>
        </p:txBody>
      </p:sp>
      <p:sp>
        <p:nvSpPr>
          <p:cNvPr id="27" name="Oval 26"/>
          <p:cNvSpPr/>
          <p:nvPr/>
        </p:nvSpPr>
        <p:spPr>
          <a:xfrm>
            <a:off x="502920" y="306324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04495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Manage Assigned Courses &amp; Learning Activities</a:t>
            </a:r>
          </a:p>
        </p:txBody>
      </p:sp>
      <p:sp>
        <p:nvSpPr>
          <p:cNvPr id="94" name="Oval 93"/>
          <p:cNvSpPr/>
          <p:nvPr/>
        </p:nvSpPr>
        <p:spPr>
          <a:xfrm>
            <a:off x="502920" y="342900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8680" y="341071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Monitor Student Progress &amp; Course Completion</a:t>
            </a:r>
          </a:p>
        </p:txBody>
      </p:sp>
      <p:sp>
        <p:nvSpPr>
          <p:cNvPr id="97" name="Oval 96"/>
          <p:cNvSpPr/>
          <p:nvPr/>
        </p:nvSpPr>
        <p:spPr>
          <a:xfrm>
            <a:off x="502920" y="379476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8680" y="377647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Analyze Learner Performance &amp; Assessment Results</a:t>
            </a:r>
          </a:p>
        </p:txBody>
      </p:sp>
      <p:sp>
        <p:nvSpPr>
          <p:cNvPr id="100" name="Oval 99"/>
          <p:cNvSpPr/>
          <p:nvPr/>
        </p:nvSpPr>
        <p:spPr>
          <a:xfrm>
            <a:off x="502920" y="416052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8680" y="414223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Identify At-Risk Learners Through Analytics</a:t>
            </a:r>
          </a:p>
        </p:txBody>
      </p:sp>
      <p:sp>
        <p:nvSpPr>
          <p:cNvPr id="103" name="Oval 102"/>
          <p:cNvSpPr/>
          <p:nvPr/>
        </p:nvSpPr>
        <p:spPr>
          <a:xfrm>
            <a:off x="502920" y="452628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68680" y="450799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Respond to Course-Related Support Tickets</a:t>
            </a:r>
          </a:p>
        </p:txBody>
      </p:sp>
      <p:sp>
        <p:nvSpPr>
          <p:cNvPr id="106" name="Oval 105"/>
          <p:cNvSpPr/>
          <p:nvPr/>
        </p:nvSpPr>
        <p:spPr>
          <a:xfrm>
            <a:off x="502920" y="489204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68680" y="487375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Improve Outcomes Through Data-Driven Insights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726679" y="1188720"/>
            <a:ext cx="3931920" cy="4160520"/>
          </a:xfrm>
          <a:prstGeom prst="roundRect">
            <a:avLst>
              <a:gd name="adj" fmla="val 10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7854696" y="1316736"/>
            <a:ext cx="3675887" cy="3904487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8046719" y="1600200"/>
            <a:ext cx="12344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9464040" y="1600200"/>
            <a:ext cx="12344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8046719" y="246888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8046719" y="4023360"/>
            <a:ext cx="26517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01000" y="4709159"/>
            <a:ext cx="33832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Trainer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1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3" dur="50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94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6" dur="500"/>
                            <p:tgtEl>
                              <p:spTgt spid="94"/>
                            </p:tgtEl>
                          </p:cBhvr>
                        </p:animEffect>
                      </p:childTnLst>
                    </p:cTn>
                  </p:par>
                  <p:par>
                    <p:cTn id="97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9" dur="500"/>
                            <p:tgtEl>
                              <p:spTgt spid="97"/>
                            </p:tgtEl>
                          </p:cBhvr>
                        </p:animEffect>
                      </p:childTnLst>
                    </p:cTn>
                  </p:par>
                  <p:par>
                    <p:cTn id="100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2" dur="500"/>
                            <p:tgtEl>
                              <p:spTgt spid="100"/>
                            </p:tgtEl>
                          </p:cBhvr>
                        </p:animEffect>
                      </p:childTnLst>
                    </p:cTn>
                  </p:par>
                  <p:par>
                    <p:cTn id="103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5" dur="500"/>
                            <p:tgtEl>
                              <p:spTgt spid="103"/>
                            </p:tgtEl>
                          </p:cBhvr>
                        </p:animEffect>
                      </p:childTnLst>
                    </p:cTn>
                  </p:par>
                  <p:par>
                    <p:cTn id="106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8" dur="500"/>
                            <p:tgtEl>
                              <p:spTgt spid="10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30352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2239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4126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6013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7900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9788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01675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0352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2239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4126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013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7900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9788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1675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777240"/>
            <a:ext cx="7132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06837"/>
                </a:solidFill>
                <a:latin typeface="Calibri"/>
              </a:rPr>
              <a:t>TRAINEE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234440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B7A4A"/>
                </a:solidFill>
                <a:latin typeface="Calibri"/>
              </a:rPr>
              <a:t>Your Learning. Your Progress. Your Growth.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645920"/>
            <a:ext cx="68580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The Trainee dashboard provides a personalized learning experience to access courses, track progress, manage activities, and achieve certification goals.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69748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Key Responsibilities</a:t>
            </a:r>
          </a:p>
        </p:txBody>
      </p:sp>
      <p:sp>
        <p:nvSpPr>
          <p:cNvPr id="27" name="Oval 26"/>
          <p:cNvSpPr/>
          <p:nvPr/>
        </p:nvSpPr>
        <p:spPr>
          <a:xfrm>
            <a:off x="502920" y="306324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04495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Access Enrolled Courses &amp; Learning Materials</a:t>
            </a:r>
          </a:p>
        </p:txBody>
      </p:sp>
      <p:sp>
        <p:nvSpPr>
          <p:cNvPr id="112" name="Oval 111"/>
          <p:cNvSpPr/>
          <p:nvPr/>
        </p:nvSpPr>
        <p:spPr>
          <a:xfrm>
            <a:off x="502920" y="342900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68680" y="341071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Track Lesson Progress &amp; Course Completion</a:t>
            </a:r>
          </a:p>
        </p:txBody>
      </p:sp>
      <p:sp>
        <p:nvSpPr>
          <p:cNvPr id="115" name="Oval 114"/>
          <p:cNvSpPr/>
          <p:nvPr/>
        </p:nvSpPr>
        <p:spPr>
          <a:xfrm>
            <a:off x="502920" y="379476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68680" y="377647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Monitor Study Hours &amp; Learning Performance</a:t>
            </a:r>
          </a:p>
        </p:txBody>
      </p:sp>
      <p:sp>
        <p:nvSpPr>
          <p:cNvPr id="118" name="Oval 117"/>
          <p:cNvSpPr/>
          <p:nvPr/>
        </p:nvSpPr>
        <p:spPr>
          <a:xfrm>
            <a:off x="502920" y="416052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68680" y="414223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Stay Updated with Alerts &amp; Notifications</a:t>
            </a:r>
          </a:p>
        </p:txBody>
      </p:sp>
      <p:sp>
        <p:nvSpPr>
          <p:cNvPr id="121" name="Oval 120"/>
          <p:cNvSpPr/>
          <p:nvPr/>
        </p:nvSpPr>
        <p:spPr>
          <a:xfrm>
            <a:off x="502920" y="452628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8680" y="450799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Manage Calendar, Deadlines &amp; Learning Tasks</a:t>
            </a:r>
          </a:p>
        </p:txBody>
      </p:sp>
      <p:sp>
        <p:nvSpPr>
          <p:cNvPr id="124" name="Oval 123"/>
          <p:cNvSpPr/>
          <p:nvPr/>
        </p:nvSpPr>
        <p:spPr>
          <a:xfrm>
            <a:off x="502920" y="489204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8680" y="487375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Create &amp; Track Support Tickets</a:t>
            </a:r>
          </a:p>
        </p:txBody>
      </p:sp>
      <p:sp>
        <p:nvSpPr>
          <p:cNvPr id="127" name="Oval 126"/>
          <p:cNvSpPr/>
          <p:nvPr/>
        </p:nvSpPr>
        <p:spPr>
          <a:xfrm>
            <a:off x="502920" y="5257800"/>
            <a:ext cx="219456" cy="219456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" y="5239512"/>
            <a:ext cx="6400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Earn Certificates Upon Course Completion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726679" y="1188720"/>
            <a:ext cx="3931920" cy="4160520"/>
          </a:xfrm>
          <a:prstGeom prst="roundRect">
            <a:avLst>
              <a:gd name="adj" fmla="val 10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7854696" y="1316736"/>
            <a:ext cx="3675887" cy="3904487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8046719" y="1600200"/>
            <a:ext cx="12344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9464040" y="1600200"/>
            <a:ext cx="123444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8046719" y="246888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8046719" y="4023360"/>
            <a:ext cx="265176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01000" y="4709159"/>
            <a:ext cx="33832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Trainee</a:t>
            </a:r>
          </a:p>
        </p:txBody>
      </p:sp>
    </p:spTree>
  </p:cSld>
  <p:clrMapOvr>
    <a:masterClrMapping/>
  </p:clrMapOvr>
  <p:transition spd="med" advClick="1">
    <p:push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9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1" dur="50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112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4" dur="500"/>
                            <p:tgtEl>
                              <p:spTgt spid="112"/>
                            </p:tgtEl>
                          </p:cBhvr>
                        </p:animEffect>
                      </p:childTnLst>
                    </p:cTn>
                  </p:par>
                  <p:par>
                    <p:cTn id="115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7" dur="500"/>
                            <p:tgtEl>
                              <p:spTgt spid="115"/>
                            </p:tgtEl>
                          </p:cBhvr>
                        </p:animEffect>
                      </p:childTnLst>
                    </p:cTn>
                  </p:par>
                  <p:par>
                    <p:cTn id="118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0" dur="500"/>
                            <p:tgtEl>
                              <p:spTgt spid="118"/>
                            </p:tgtEl>
                          </p:cBhvr>
                        </p:animEffect>
                      </p:childTnLst>
                    </p:cTn>
                  </p:par>
                  <p:par>
                    <p:cTn id="121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3" dur="500"/>
                            <p:tgtEl>
                              <p:spTgt spid="121"/>
                            </p:tgtEl>
                          </p:cBhvr>
                        </p:animEffect>
                      </p:childTnLst>
                    </p:cTn>
                  </p:par>
                  <p:par>
                    <p:cTn id="124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6" dur="500"/>
                            <p:tgtEl>
                              <p:spTgt spid="124"/>
                            </p:tgtEl>
                          </p:cBhvr>
                        </p:animEffect>
                      </p:childTnLst>
                    </p:cTn>
                  </p:par>
                  <p:par>
                    <p:cTn id="127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9" dur="500"/>
                            <p:tgtEl>
                              <p:spTgt spid="127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48640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527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414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4301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6188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8076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9963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527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414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4301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6188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8076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9963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77724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CORE CAPABILITIES — ACCESS &amp; USERS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1417320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1417320"/>
            <a:ext cx="91440" cy="416052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160020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Authentication &amp; Access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2148840"/>
            <a:ext cx="32918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CIMS login with PKCE for all guards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Role mapping and server-side sessions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Auto-provision trainees only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Pending approval &amp; profile completion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251960" y="1417320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251960" y="1417320"/>
            <a:ext cx="91440" cy="416052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0560" y="160020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Dashboards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80560" y="2148840"/>
            <a:ext cx="32918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Role-specific dashboards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Admin stats and performance links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Trainer course/trainee metrics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Trainee courses, hours, badges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092440" y="1417320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8092440" y="1417320"/>
            <a:ext cx="91440" cy="416052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321040" y="160020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User &amp; Master Data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321040" y="2148840"/>
            <a:ext cx="32918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Search/filter/activate trainees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Approve registrations &amp; assign ranks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Manage admins, trainers &amp; education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District/tehsil and rank-course maps</a:t>
            </a:r>
          </a:p>
        </p:txBody>
      </p:sp>
    </p:spTree>
  </p:cSld>
  <p:clrMapOvr>
    <a:masterClrMapping/>
  </p:clrMapOvr>
  <p:transition spd="med" advClick="1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0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2"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133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5" dur="500"/>
                            <p:tgtEl>
                              <p:spTgt spid="133"/>
                            </p:tgtEl>
                          </p:cBhvr>
                        </p:animEffect>
                      </p:childTnLst>
                    </p:cTn>
                  </p:par>
                  <p:par>
                    <p:cTn id="136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8" dur="500"/>
                            <p:tgtEl>
                              <p:spTgt spid="137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48640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527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414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4301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6188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8076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9963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527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414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4301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6188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8076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9963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77724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LEARNING DELIVERY &amp; ASSESSMENT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1417320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1417320"/>
            <a:ext cx="91440" cy="416052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160020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Course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2148840"/>
            <a:ext cx="32918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Bilingual courses, categories &amp; topics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Modules, lessons, quizzes &amp; duration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Trainer &amp; rank assignment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Enrollment due dates &amp; expiry rules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4251960" y="1417320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251960" y="1417320"/>
            <a:ext cx="91440" cy="416052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480560" y="160020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Content &amp; Media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480560" y="2148840"/>
            <a:ext cx="32918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Videos, PDFs, docs &amp; subtitles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Media library with S3/MinIO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Protected streaming access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Block unauthorized media navigation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092440" y="1417320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092440" y="1417320"/>
            <a:ext cx="91440" cy="416052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321040" y="160020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Quizzes &amp; Progress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321040" y="2148840"/>
            <a:ext cx="32918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MCQ/fill-in quizzes with CSV upload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Time limits, passing scores, auto-grade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Lesson/course progress tracking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Completion when criteria are met</a:t>
            </a:r>
          </a:p>
        </p:txBody>
      </p:sp>
    </p:spTree>
  </p:cSld>
  <p:clrMapOvr>
    <a:masterClrMapping/>
  </p:clrMapOvr>
  <p:transition spd="med" advClick="1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9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1"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142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4" dur="500"/>
                            <p:tgtEl>
                              <p:spTgt spid="142"/>
                            </p:tgtEl>
                          </p:cBhvr>
                        </p:animEffect>
                      </p:childTnLst>
                    </p:cTn>
                  </p:par>
                  <p:par>
                    <p:cTn id="145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7" dur="500"/>
                            <p:tgtEl>
                              <p:spTgt spid="14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48640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527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414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4301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6188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8076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9963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527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414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4301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6188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8076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9963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77724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CERTIFICATION, ANALYTICS &amp; ENGAGEMENT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1417320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1417320"/>
            <a:ext cx="91440" cy="416052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160020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Certificates &amp; Badges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2148840"/>
            <a:ext cx="32918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Auto-issue on eligibility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Public verify by certificate hash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Template &amp; signature settings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Gamification badges for milestones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251960" y="1417320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251960" y="1417320"/>
            <a:ext cx="91440" cy="416052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80560" y="160020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Reports &amp; Analytics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480560" y="2148840"/>
            <a:ext cx="32918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Admin overview with charts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Trainee/course progress filters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District, tehsil, rank dimensions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CSV export for operations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8092440" y="1417320"/>
            <a:ext cx="36576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092440" y="1417320"/>
            <a:ext cx="91440" cy="416052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321040" y="160020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Alerts &amp; Support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321040" y="2148840"/>
            <a:ext cx="32918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Admin alerts &amp; deadline notices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Notification history &amp; read status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Support tickets, chat &amp; forums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System and profile settings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8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0"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151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3" dur="500"/>
                            <p:tgtEl>
                              <p:spTgt spid="151"/>
                            </p:tgtEl>
                          </p:cBhvr>
                        </p:animEffect>
                      </p:childTnLst>
                    </p:cTn>
                  </p:par>
                  <p:par>
                    <p:cTn id="154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6" dur="500"/>
                            <p:tgtEl>
                              <p:spTgt spid="15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48640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527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414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4301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6188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8076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9963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527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414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4301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6188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8076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9963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77724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APPLICATION WORKFLOWS — ACCESS &amp; LEARNING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1325880"/>
            <a:ext cx="55321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94360" y="1508760"/>
            <a:ext cx="329184" cy="329184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1527048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Login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1965960"/>
            <a:ext cx="5074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Select login mode and redirect to CIMS (PKCE)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Exchange code, resolve user/role, store session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Route to dashboard, profile, or pending approval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263640" y="1325880"/>
            <a:ext cx="55321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446520" y="1508760"/>
            <a:ext cx="329184" cy="329184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903720" y="1527048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Trainee Onboarding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492240" y="1965960"/>
            <a:ext cx="5074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Authenticate via CIMS and provision local user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Complete profile fields and documents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Admin approves; trainee gains course access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11480" y="3749039"/>
            <a:ext cx="55321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594360" y="3931920"/>
            <a:ext cx="329184" cy="329184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51560" y="3950207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Course Creation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" y="4389120"/>
            <a:ext cx="5074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Admin enters course structure and bilingual info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Attach media, modules, lessons and quizzes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Validate, save, assign and activate course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263640" y="3749039"/>
            <a:ext cx="55321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6446520" y="3931920"/>
            <a:ext cx="329184" cy="329184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903720" y="3950207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Trainee Learning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492240" y="4389120"/>
            <a:ext cx="5074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Enroll/continue an active non-expired course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Complete lessons; system tracks progress &amp; time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Pass quizzes; certificate issued on eligibility</a:t>
            </a:r>
          </a:p>
        </p:txBody>
      </p:sp>
    </p:spTree>
  </p:cSld>
  <p:clrMapOvr>
    <a:masterClrMapping/>
  </p:clrMapOvr>
  <p:transition spd="med" advClick="1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7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9"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160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2" dur="500"/>
                            <p:tgtEl>
                              <p:spTgt spid="160"/>
                            </p:tgtEl>
                          </p:cBhvr>
                        </p:animEffect>
                      </p:childTnLst>
                    </p:cTn>
                  </p:par>
                  <p:par>
                    <p:cTn id="163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5" dur="500"/>
                            <p:tgtEl>
                              <p:spTgt spid="164"/>
                            </p:tgtEl>
                          </p:cBhvr>
                        </p:animEffect>
                      </p:childTnLst>
                    </p:cTn>
                  </p:par>
                  <p:par>
                    <p:cTn id="166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8" dur="500"/>
                            <p:tgtEl>
                              <p:spTgt spid="16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48640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527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414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4301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6188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8076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9963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527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414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4301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6188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8076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9963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77724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APPLICATION WORKFLOWS — ASSESSMENT &amp; OPERATIONS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1325880"/>
            <a:ext cx="55321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94360" y="1508760"/>
            <a:ext cx="329184" cy="329184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1527048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Course Expiry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1965960"/>
            <a:ext cx="5074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Due date = enrollment date + duration (days)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Overdue incomplete courses marked expired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Removed from active lists; content access blocked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263640" y="1325880"/>
            <a:ext cx="55321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6446520" y="1508760"/>
            <a:ext cx="329184" cy="329184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903720" y="1527048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Quiz Attempt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492240" y="1965960"/>
            <a:ext cx="5074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Start attempt with selected questions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Finalize on submit or timeout; auto-grade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Show results; allow retry where enabled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411480" y="3749039"/>
            <a:ext cx="55321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594360" y="3931920"/>
            <a:ext cx="329184" cy="329184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1560" y="3950207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Certificate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40080" y="4389120"/>
            <a:ext cx="5074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Check lessons complete and quizzes passed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Issue certificate with hash; mark course done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Trainee views certificate; public verify by hash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6263640" y="3749039"/>
            <a:ext cx="55321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6446520" y="3931920"/>
            <a:ext cx="329184" cy="329184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903720" y="3950207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6837"/>
                </a:solidFill>
                <a:latin typeface="Calibri"/>
              </a:rPr>
              <a:t>Reports &amp; Notifications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492240" y="4389120"/>
            <a:ext cx="5074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Admin filters reports and exports CSV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Alerts and deadline notifications generated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4A4A4A"/>
                </a:solidFill>
                <a:latin typeface="Calibri"/>
              </a:rPr>
              <a:t>•  Users view and mark notifications as read</a:t>
            </a:r>
          </a:p>
        </p:txBody>
      </p:sp>
    </p:spTree>
  </p:cSld>
  <p:clrMapOvr>
    <a:masterClrMapping/>
  </p:clrMapOvr>
  <p:transition spd="med" advClick="1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9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1"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172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4" dur="500"/>
                            <p:tgtEl>
                              <p:spTgt spid="172"/>
                            </p:tgtEl>
                          </p:cBhvr>
                        </p:animEffect>
                      </p:childTnLst>
                    </p:cTn>
                  </p:par>
                  <p:par>
                    <p:cTn id="175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7" dur="500"/>
                            <p:tgtEl>
                              <p:spTgt spid="176"/>
                            </p:tgtEl>
                          </p:cBhvr>
                        </p:animEffect>
                      </p:childTnLst>
                    </p:cTn>
                  </p:par>
                  <p:par>
                    <p:cTn id="178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0" dur="500"/>
                            <p:tgtEl>
                              <p:spTgt spid="18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48640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527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414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4301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6188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8076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9963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527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414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4301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6188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8076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9963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77724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SUPPORT &amp; COMMUNICATION WORKFLOW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1965960"/>
            <a:ext cx="35661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920239" y="2286000"/>
            <a:ext cx="960120" cy="96012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34747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6837"/>
                </a:solidFill>
                <a:latin typeface="Calibri"/>
              </a:rPr>
              <a:t>Raise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977639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User creates a support ticket or starts chat / forum interaction.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4434840" y="1965960"/>
            <a:ext cx="35661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5715000" y="2286000"/>
            <a:ext cx="960120" cy="96012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617720" y="34747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6837"/>
                </a:solidFill>
                <a:latin typeface="Calibri"/>
              </a:rPr>
              <a:t>Track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663440" y="3977639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System stores messages, participants, attachments, and ticket status.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8229600" y="1965960"/>
            <a:ext cx="35661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9509760" y="2286000"/>
            <a:ext cx="960120" cy="96012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412480" y="34747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6837"/>
                </a:solidFill>
                <a:latin typeface="Calibri"/>
              </a:rPr>
              <a:t>Resolve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458200" y="3977639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Authorized users respond, update status, or moderate where permitted.</a:t>
            </a:r>
          </a:p>
        </p:txBody>
      </p:sp>
    </p:spTree>
  </p:cSld>
  <p:clrMapOvr>
    <a:masterClrMapping/>
  </p:clrMapOvr>
  <p:transition spd="med" advClick="1">
    <p:cover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1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3"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184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6" dur="500"/>
                            <p:tgtEl>
                              <p:spTgt spid="184"/>
                            </p:tgtEl>
                          </p:cBhvr>
                        </p:animEffect>
                      </p:childTnLst>
                    </p:cTn>
                  </p:par>
                  <p:par>
                    <p:cTn id="187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9" dur="500"/>
                            <p:tgtEl>
                              <p:spTgt spid="18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80015" y="-502920"/>
            <a:ext cx="2560320" cy="1417320"/>
          </a:xfrm>
          <a:prstGeom prst="roundRect">
            <a:avLst>
              <a:gd name="adj" fmla="val 22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-640080" y="5943600"/>
            <a:ext cx="6583680" cy="438912"/>
          </a:xfrm>
          <a:prstGeom prst="parallelogram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14400" y="6263640"/>
            <a:ext cx="7132320" cy="365760"/>
          </a:xfrm>
          <a:prstGeom prst="parallelogram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5" y="5760720"/>
            <a:ext cx="1828800" cy="1463040"/>
          </a:xfrm>
          <a:prstGeom prst="roundRect">
            <a:avLst>
              <a:gd name="adj" fmla="val 20000"/>
            </a:avLst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256032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PLRA - LMS</a:t>
            </a:r>
          </a:p>
        </p:txBody>
      </p:sp>
      <p:sp>
        <p:nvSpPr>
          <p:cNvPr id="9" name="Oval 8"/>
          <p:cNvSpPr/>
          <p:nvPr/>
        </p:nvSpPr>
        <p:spPr>
          <a:xfrm>
            <a:off x="548640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0527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4144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43016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61888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080760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99632" y="2560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0527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4144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43016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61888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80760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99632" y="374904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77724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TECHNOLOGY STACK &amp; OPERATING ENVIRONMENT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2801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LMS is a server-rendered Laravel web application organized by domains. It runs with PHP-FPM and Nginx, uses a relational database, integrates with CIMS for authentication, and stores media via S3-compatible storage (MinIO).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2103120"/>
            <a:ext cx="27889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2103120"/>
            <a:ext cx="2788920" cy="4572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217627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2743200"/>
            <a:ext cx="24688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Laravel (PHP 8.2+)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Blade role-specific UI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Composer dependencies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Node / Vite assets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3337560" y="2103120"/>
            <a:ext cx="27889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3337560" y="2103120"/>
            <a:ext cx="2788920" cy="4572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3429000" y="217627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Runtime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520440" y="2743200"/>
            <a:ext cx="24688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Docker containers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Nginx reverse proxy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PHP-FPM app runtime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Queue &amp; scheduler workers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6263640" y="2103120"/>
            <a:ext cx="27889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263640" y="2103120"/>
            <a:ext cx="2788920" cy="4572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355080" y="217627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Data &amp; Storage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446520" y="2743200"/>
            <a:ext cx="24688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Relational database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S3 / MinIO object storage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Persistent volumes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CSV reporting data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9189720" y="2103120"/>
            <a:ext cx="278892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9189720" y="2103120"/>
            <a:ext cx="2788920" cy="4572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281160" y="217627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Integrations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372600" y="2743200"/>
            <a:ext cx="24688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CIMS auth (PKCE)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SMTP / mail services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HTTPS termination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•  Modern browser clients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0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2" dur="50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193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5" dur="500"/>
                            <p:tgtEl>
                              <p:spTgt spid="193"/>
                            </p:tgtEl>
                          </p:cBhvr>
                        </p:animEffect>
                      </p:childTnLst>
                    </p:cTn>
                  </p:par>
                  <p:par>
                    <p:cTn id="196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8" dur="500"/>
                            <p:tgtEl>
                              <p:spTgt spid="197"/>
                            </p:tgtEl>
                          </p:cBhvr>
                        </p:animEffect>
                      </p:childTnLst>
                    </p:cTn>
                  </p:par>
                  <p:par>
                    <p:cTn id="199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1" dur="500"/>
                            <p:tgtEl>
                              <p:spTgt spid="20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19"/>
            <a:ext cx="12191695" cy="301752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29200" y="365760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148072" y="365760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266944" y="365760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385816" y="365760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504688" y="365760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23560" y="365760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42432" y="365760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29200" y="4846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148072" y="4846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66944" y="4846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85816" y="4846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04688" y="4846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23560" y="4846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42432" y="484632"/>
            <a:ext cx="50292" cy="50292"/>
          </a:xfrm>
          <a:prstGeom prst="ellipse">
            <a:avLst/>
          </a:prstGeom>
          <a:solidFill>
            <a:srgbClr val="A8D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60720" y="210312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6837"/>
                </a:solidFill>
                <a:latin typeface="Calibri"/>
              </a:rPr>
              <a:t>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880360"/>
            <a:ext cx="106984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31520" y="3566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D8F0E4"/>
                </a:solidFill>
                <a:latin typeface="Calibri"/>
              </a:rPr>
              <a:t>PLRA LMS — Modernizing Learning Across Punjab Land Records Authority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31520" y="40690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lms.punjab-zameen.gov.pk  |  Punjab Land Records Authority (PLRA)</a:t>
            </a:r>
          </a:p>
        </p:txBody>
      </p:sp>
    </p:spTree>
  </p:cSld>
  <p:clrMapOvr>
    <a:masterClrMapping/>
  </p:clrMapOvr>
  <p:transition spd="med" advClick="1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2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4" dur="50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205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7" dur="500"/>
                            <p:tgtEl>
                              <p:spTgt spid="205"/>
                            </p:tgtEl>
                          </p:cBhvr>
                        </p:animEffect>
                      </p:childTnLst>
                    </p:cTn>
                  </p:par>
                  <p:par>
                    <p:cTn id="208" fill="hold" presetID="10" presetClass="entr" presetSubtype="0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0" dur="500"/>
                            <p:tgtEl>
                              <p:spTgt spid="20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