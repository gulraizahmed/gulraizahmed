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0" y="9601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006837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8F0E4"/>
                </a:solidFill>
                <a:latin typeface="Calibri"/>
              </a:rPr>
              <a:t>PUNJAB LAND RECORDS AUTHORITY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Key Performance Indicator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4920" y="3977639"/>
            <a:ext cx="1097280" cy="411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3977639"/>
            <a:ext cx="914400" cy="411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0624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0F2E8"/>
                </a:solidFill>
                <a:latin typeface="Calibri"/>
              </a:rPr>
              <a:t>District-wise Ranking of Authorities by Rank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8D8C6"/>
                </a:solidFill>
                <a:latin typeface="Calibri"/>
              </a:rPr>
              <a:t>Performance Monitoring &amp; Evaluation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Government of the Punjab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B8D8C6"/>
                </a:solidFill>
                <a:latin typeface="Calibri"/>
              </a:rPr>
              <a:t>Status Briefing Presentation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92608"/>
            <a:ext cx="384048" cy="384048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06837"/>
                </a:solidFill>
                <a:latin typeface="Calibri"/>
              </a:rPr>
              <a:t>PLRA  ·  KPI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7724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0068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777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06837"/>
                </a:solidFill>
                <a:latin typeface="Calibri"/>
              </a:rPr>
              <a:t>Data Inputs — Static &amp; Dynamic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97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88888"/>
                </a:solidFill>
                <a:latin typeface="Calibri"/>
              </a:rPr>
              <a:t>Portal / database entries vs. PLRA-developed API feeds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353312"/>
            <a:ext cx="905256" cy="36576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56816" y="1353312"/>
            <a:ext cx="740664" cy="36576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325880"/>
            <a:ext cx="534924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25880"/>
            <a:ext cx="5349240" cy="64008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17320"/>
            <a:ext cx="4892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03120"/>
            <a:ext cx="4800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Entered by field officers via the KPI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606040"/>
            <a:ext cx="480060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Data submitted by field persons (DC, ADCR, AC, and other ranks)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Captured through the KPI portal and stored in the database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Maintained and reported Division-wise, District-wise, and Tehsil-wise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325880"/>
            <a:ext cx="534924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25880"/>
            <a:ext cx="5349240" cy="640080"/>
          </a:xfrm>
          <a:prstGeom prst="rect">
            <a:avLst/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417320"/>
            <a:ext cx="4892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Dynamic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103120"/>
            <a:ext cx="4800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Received through 3 APIs developed by the PLRA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06040"/>
            <a:ext cx="480060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The PLRA team has developed three APIs to receive data dynamically: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Inheritance Mutation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Partition Proceeding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Attestation of Registries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KPI Project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92608"/>
            <a:ext cx="384048" cy="384048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06837"/>
                </a:solidFill>
                <a:latin typeface="Calibri"/>
              </a:rPr>
              <a:t>PLRA  ·  KPI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7724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0068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777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06837"/>
                </a:solidFill>
                <a:latin typeface="Calibri"/>
              </a:rPr>
              <a:t>Design Approval &amp; Documentation Handover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97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88888"/>
                </a:solidFill>
                <a:latin typeface="Calibri"/>
              </a:rPr>
              <a:t>Current status communicated to the vendor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353312"/>
            <a:ext cx="905256" cy="36576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56816" y="1353312"/>
            <a:ext cx="740664" cy="36576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554480"/>
            <a:ext cx="11155680" cy="1051560"/>
          </a:xfrm>
          <a:prstGeom prst="roundRect">
            <a:avLst>
              <a:gd name="adj" fmla="val 6000"/>
            </a:avLst>
          </a:prstGeom>
          <a:solidFill>
            <a:srgbClr val="E8F5EE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554480"/>
            <a:ext cx="109728" cy="1051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1783080"/>
            <a:ext cx="1463040" cy="411480"/>
          </a:xfrm>
          <a:prstGeom prst="roundRect">
            <a:avLst>
              <a:gd name="adj" fmla="val 3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APPROVED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69164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06837"/>
                </a:solidFill>
                <a:latin typeface="Calibri"/>
              </a:rPr>
              <a:t>Final Figma Design — 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057400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UI/UX design for the KPI district-wise ranking platform has been finalized and formally approved.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88920"/>
            <a:ext cx="111556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788920"/>
            <a:ext cx="91440" cy="338328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718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06837"/>
                </a:solidFill>
                <a:latin typeface="Calibri"/>
              </a:rPr>
              <a:t>Documentation &amp; Project Plan — Shared with Vendor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29000"/>
            <a:ext cx="106984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The PLRA KPI team has sent an email to the vendor regarding the following deliverables: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SRS  — Software Requirements Specification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BRD  — Business Requirements Document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Workflow  — End-to-end process flows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User Manual  — End-user operational guide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Project Plan  — with clear module-wise man-hour estimates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Once the complete project plan and documents are received, work on the system will commence,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following a dynamic approach by obtaining data through the developed APIs.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KPI Project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0" y="205740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3611880"/>
            <a:ext cx="731520" cy="36576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6480" y="3611880"/>
            <a:ext cx="6400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D8F0E4"/>
                </a:solidFill>
                <a:latin typeface="Calibri"/>
              </a:rPr>
              <a:t>KPI — Key Performance Indicator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Punjab Land Records Authority (PLRA)  |  Government of the Punjab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KPI Project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