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0B4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69280" y="960120"/>
            <a:ext cx="960120" cy="9601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006837"/>
                </a:solidFill>
                <a:latin typeface="Calibri"/>
              </a:rPr>
              <a:t>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D8F0E4"/>
                </a:solidFill>
                <a:latin typeface="Calibri"/>
              </a:rPr>
              <a:t>PUNJAB LAND RECORDS AUTHORITY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06040"/>
            <a:ext cx="106984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KPI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37560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Key Performance Indicator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4920" y="3977639"/>
            <a:ext cx="1097280" cy="4114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3977639"/>
            <a:ext cx="914400" cy="411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4206240"/>
            <a:ext cx="9418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0F2E8"/>
                </a:solidFill>
                <a:latin typeface="Calibri"/>
              </a:rPr>
              <a:t>District-wise Ranking of Authorities by Rank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B8D8C6"/>
                </a:solidFill>
                <a:latin typeface="Calibri"/>
              </a:rPr>
              <a:t>Performance Monitoring &amp; Evaluation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Government of the Punjab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B8D8C6"/>
                </a:solidFill>
                <a:latin typeface="Calibri"/>
              </a:rPr>
              <a:t>Status Briefing Presentation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92608"/>
            <a:ext cx="384048" cy="384048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06837"/>
                </a:solidFill>
                <a:latin typeface="Calibri"/>
              </a:rPr>
              <a:t>PLRA  ·  KPI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7724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006837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7772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006837"/>
                </a:solidFill>
                <a:latin typeface="Calibri"/>
              </a:rPr>
              <a:t>Data Inputs — Static &amp; Dynamic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097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888888"/>
                </a:solidFill>
                <a:latin typeface="Calibri"/>
              </a:rPr>
              <a:t>Reference data received statically vs. operational data received dynamically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1353312"/>
            <a:ext cx="905256" cy="36576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956816" y="1353312"/>
            <a:ext cx="740664" cy="36576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325880"/>
            <a:ext cx="534924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325880"/>
            <a:ext cx="5349240" cy="64008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417320"/>
            <a:ext cx="4892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Static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10312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One-time / reference datasets received for setup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560320"/>
            <a:ext cx="4800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•  District &amp; tehsil master lists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•  Rank / designation hierarchy of authorities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•  Officer-to-territory organizational mapping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•  KPI indicator definitions &amp; weightages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•  Target / benchmark thresholds per rank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•  Scoring &amp; ranking formula configuration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325880"/>
            <a:ext cx="534924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325880"/>
            <a:ext cx="5349240" cy="640080"/>
          </a:xfrm>
          <a:prstGeom prst="rect">
            <a:avLst/>
          </a:prstGeom>
          <a:solidFill>
            <a:srgbClr val="0B4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1417320"/>
            <a:ext cx="4892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Dynamic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10312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Ongoing / live feeds for performance measurement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560320"/>
            <a:ext cx="4800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•  Service delivery volumes (district-wise)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•  Processing &amp; turnaround time metrics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•  Pendency and escalation statistics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•  Complaint / grievance resolution indicators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•  Period-wise performance score calculations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•  Live district-wise authority rankings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11247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Punjab Land Records Authority (PLRA)  |  KPI Project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92608"/>
            <a:ext cx="384048" cy="384048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06837"/>
                </a:solidFill>
                <a:latin typeface="Calibri"/>
              </a:rPr>
              <a:t>PLRA  ·  KPI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7724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006837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7772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006837"/>
                </a:solidFill>
                <a:latin typeface="Calibri"/>
              </a:rPr>
              <a:t>Design Approval &amp; Documentation Handover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097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888888"/>
                </a:solidFill>
                <a:latin typeface="Calibri"/>
              </a:rPr>
              <a:t>Current status communicated to the vendor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1353312"/>
            <a:ext cx="905256" cy="36576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956816" y="1353312"/>
            <a:ext cx="740664" cy="36576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600200"/>
            <a:ext cx="11155680" cy="1234440"/>
          </a:xfrm>
          <a:prstGeom prst="roundRect">
            <a:avLst>
              <a:gd name="adj" fmla="val 6000"/>
            </a:avLst>
          </a:prstGeom>
          <a:solidFill>
            <a:srgbClr val="E8F5EE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600200"/>
            <a:ext cx="109728" cy="123444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" y="1874519"/>
            <a:ext cx="1463040" cy="411480"/>
          </a:xfrm>
          <a:prstGeom prst="roundRect">
            <a:avLst>
              <a:gd name="adj" fmla="val 30000"/>
            </a:avLst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APPROVED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1783080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06837"/>
                </a:solidFill>
                <a:latin typeface="Calibri"/>
              </a:rPr>
              <a:t>Final Figma Design — Approved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194560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4A4A4A"/>
                </a:solidFill>
                <a:latin typeface="Calibri"/>
              </a:rPr>
              <a:t>UI/UX design for the KPI district-wise ranking platform has been finalized and formally approved.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063240"/>
            <a:ext cx="11155680" cy="3063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063240"/>
            <a:ext cx="91440" cy="306324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24612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06837"/>
                </a:solidFill>
                <a:latin typeface="Calibri"/>
              </a:rPr>
              <a:t>Documentation &amp; Project Plan — Shared with Vendor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703320"/>
            <a:ext cx="1069848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4A4A4A"/>
                </a:solidFill>
                <a:latin typeface="Calibri"/>
              </a:rPr>
              <a:t>The PLRA KPI team has sent an email to the vendor regarding the following deliverables: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 SRS  — Software Requirements Specification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 BRD  — Business Requirements Document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 Workflow  — End-to-end process flows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 User Manual  — End-user operational guide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 Project Plan  — Timeline, milestones &amp; delivery schedule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11247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Punjab Land Records Authority (PLRA)  |  KPI Project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12191695" cy="32004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69280" y="2057400"/>
            <a:ext cx="685800" cy="685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06837"/>
                </a:solidFill>
                <a:latin typeface="Calibri"/>
              </a:rPr>
              <a:t>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5394960" y="3611880"/>
            <a:ext cx="731520" cy="36576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26480" y="3611880"/>
            <a:ext cx="64008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84048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D8F0E4"/>
                </a:solidFill>
                <a:latin typeface="Calibri"/>
              </a:rPr>
              <a:t>KPI — Key Performance Indicator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97680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Punjab Land Records Authority (PLRA)  |  Government of the Punjab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11247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Punjab Land Records Authority (PLRA)  |  KPI Project</a:t>
            </a:r>
          </a:p>
        </p:txBody>
      </p:sp>
    </p:spTree>
  </p:cSld>
  <p:clrMapOvr>
    <a:masterClrMapping/>
  </p:clrMapOvr>
  <p:transition spd="med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