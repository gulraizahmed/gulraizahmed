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806440"/>
            <a:ext cx="12191695" cy="105156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960120"/>
            <a:ext cx="960120" cy="96012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05740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D8F0E4"/>
                </a:solidFill>
                <a:latin typeface="Calibri"/>
              </a:rPr>
              <a:t>PUNJAB LAND RECORDS AUTHORITY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2606040"/>
            <a:ext cx="10698480" cy="7772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5400" b="1" i="0">
                <a:solidFill>
                  <a:srgbClr val="FFFFFF"/>
                </a:solidFill>
                <a:latin typeface="Calibri"/>
              </a:rPr>
              <a:t>KPI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33756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2600" b="1" i="0">
                <a:solidFill>
                  <a:srgbClr val="FFFFFF"/>
                </a:solidFill>
                <a:latin typeface="Calibri"/>
              </a:rPr>
              <a:t>Key Performance Indicator Project</a:t>
            </a:r>
          </a:p>
        </p:txBody>
      </p:sp>
      <p:sp>
        <p:nvSpPr>
          <p:cNvPr id="8" name="Rectangle 7"/>
          <p:cNvSpPr/>
          <p:nvPr/>
        </p:nvSpPr>
        <p:spPr>
          <a:xfrm>
            <a:off x="5074920" y="3977639"/>
            <a:ext cx="1097280" cy="41148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172200" y="3977639"/>
            <a:ext cx="914400" cy="41148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4206240"/>
            <a:ext cx="94183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0F2E8"/>
                </a:solidFill>
                <a:latin typeface="Calibri"/>
              </a:rPr>
              <a:t>District-wise Ranking of Authorities by Rank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B8D8C6"/>
                </a:solidFill>
                <a:latin typeface="Calibri"/>
              </a:rPr>
              <a:t>Performance Monitoring &amp; Evaluation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69848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Government of the Punjab</a:t>
            </a:r>
          </a:p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100" b="0" i="0">
                <a:solidFill>
                  <a:srgbClr val="B8D8C6"/>
                </a:solidFill>
                <a:latin typeface="Calibri"/>
              </a:rPr>
              <a:t>Status Briefing Presentation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Data Inputs — Static &amp; Dynamic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Portal / database entries vs. PLRA-developed API feeds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325880"/>
            <a:ext cx="5349240" cy="64008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Static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2103120"/>
            <a:ext cx="4800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Entered by field officers via the KPI portal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2606040"/>
            <a:ext cx="48006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Data submitted by field persons (DC, ADCR, AC, and other ranks)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Captured through the KPI portal and stored in the database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Maintained and reported Division-wise, District-wise, and Tehsil-wise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309360" y="1325880"/>
            <a:ext cx="5349240" cy="45720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309360" y="1325880"/>
            <a:ext cx="5349240" cy="640080"/>
          </a:xfrm>
          <a:prstGeom prst="rect">
            <a:avLst/>
          </a:prstGeom>
          <a:solidFill>
            <a:srgbClr val="0B4F2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37960" y="1417320"/>
            <a:ext cx="489204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FFFFFF"/>
                </a:solidFill>
                <a:latin typeface="Calibri"/>
              </a:rPr>
              <a:t>Dynamic Data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0" y="2103120"/>
            <a:ext cx="48006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Received through 3 APIs developed by the PLRA team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2606040"/>
            <a:ext cx="4800600" cy="3154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4A4A4A"/>
                </a:solidFill>
                <a:latin typeface="Calibri"/>
              </a:rPr>
              <a:t>The PLRA team has developed three APIs to receive data dynamically: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8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Inheritance Mutation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Partition Proceeding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222222"/>
                </a:solidFill>
                <a:latin typeface="Calibri"/>
              </a:rPr>
              <a:t>•  Attestation of Registries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CFCF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9728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92608"/>
            <a:ext cx="384048" cy="384048"/>
          </a:xfrm>
          <a:prstGeom prst="ellipse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800" b="1" i="0">
                <a:solidFill>
                  <a:srgbClr val="FFFFFF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47472"/>
            <a:ext cx="3657600" cy="29260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006837"/>
                </a:solidFill>
                <a:latin typeface="Calibri"/>
              </a:rPr>
              <a:t>PLRA  ·  KPI 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11480" y="777240"/>
            <a:ext cx="6400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006837"/>
                </a:solidFill>
                <a:latin typeface="Calibri"/>
              </a:rPr>
              <a:t>03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77724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2400" b="1" i="0">
                <a:solidFill>
                  <a:srgbClr val="006837"/>
                </a:solidFill>
                <a:latin typeface="Calibri"/>
              </a:rPr>
              <a:t>Design Approval &amp; Documentation Handover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" y="1097280"/>
            <a:ext cx="10058400" cy="2286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888888"/>
                </a:solidFill>
                <a:latin typeface="Calibri"/>
              </a:rPr>
              <a:t>Current status communicated to the vendor</a:t>
            </a:r>
          </a:p>
        </p:txBody>
      </p:sp>
      <p:sp>
        <p:nvSpPr>
          <p:cNvPr id="9" name="Rectangle 8"/>
          <p:cNvSpPr/>
          <p:nvPr/>
        </p:nvSpPr>
        <p:spPr>
          <a:xfrm>
            <a:off x="1051560" y="1353312"/>
            <a:ext cx="905256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56816" y="1353312"/>
            <a:ext cx="740664" cy="36576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2920" y="1600200"/>
            <a:ext cx="11155680" cy="1234440"/>
          </a:xfrm>
          <a:prstGeom prst="roundRect">
            <a:avLst>
              <a:gd name="adj" fmla="val 6000"/>
            </a:avLst>
          </a:prstGeom>
          <a:solidFill>
            <a:srgbClr val="E8F5EE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02920" y="1600200"/>
            <a:ext cx="109728" cy="12344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822960" y="1874519"/>
            <a:ext cx="1463040" cy="411480"/>
          </a:xfrm>
          <a:prstGeom prst="roundRect">
            <a:avLst>
              <a:gd name="adj" fmla="val 30000"/>
            </a:avLst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FFFFF"/>
                </a:solidFill>
                <a:latin typeface="Calibri"/>
              </a:rPr>
              <a:t>APPROVED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468880" y="1783080"/>
            <a:ext cx="8686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800" b="1" i="0">
                <a:solidFill>
                  <a:srgbClr val="006837"/>
                </a:solidFill>
                <a:latin typeface="Calibri"/>
              </a:rPr>
              <a:t>Final Figma Design — Approved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2194560"/>
            <a:ext cx="868680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UI/UX design for the KPI district-wise ranking platform has been finalized and formally approved.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063240"/>
            <a:ext cx="11155680" cy="306324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5875">
            <a:solidFill>
              <a:srgbClr val="2F9E6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02920" y="3063240"/>
            <a:ext cx="91440" cy="306324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324612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600" b="1" i="0">
                <a:solidFill>
                  <a:srgbClr val="006837"/>
                </a:solidFill>
                <a:latin typeface="Calibri"/>
              </a:rPr>
              <a:t>Documentation &amp; Project Plan — Shared with Vendor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3703320"/>
            <a:ext cx="10698480" cy="2240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4A4A4A"/>
                </a:solidFill>
                <a:latin typeface="Calibri"/>
              </a:rPr>
              <a:t>The PLRA KPI team has sent an email to the vendor regarding the following deliverables: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6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SRS  — Software Requirements Specification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BRD  — Business Requirements Document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Workflow  — End-to-end process flows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User Manual  — End-user operational guide</a:t>
            </a:r>
          </a:p>
          <a:p>
            <a:pPr algn="l"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222222"/>
                </a:solidFill>
                <a:latin typeface="Calibri"/>
              </a:rPr>
              <a:t>•  Project Plan  — Timeline, milestones &amp; delivery schedule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828800"/>
            <a:ext cx="12191695" cy="3200400"/>
          </a:xfrm>
          <a:prstGeom prst="rect">
            <a:avLst/>
          </a:prstGeom>
          <a:solidFill>
            <a:srgbClr val="00683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669280" y="2057400"/>
            <a:ext cx="685800" cy="685800"/>
          </a:xfrm>
          <a:prstGeom prst="ellipse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06837"/>
                </a:solidFill>
                <a:latin typeface="Calibri"/>
              </a:rPr>
              <a:t>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926080"/>
            <a:ext cx="106984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4400" b="1" i="0">
                <a:solidFill>
                  <a:srgbClr val="FFFFFF"/>
                </a:solidFill>
                <a:latin typeface="Calibri"/>
              </a:rPr>
              <a:t>Thank You</a:t>
            </a:r>
          </a:p>
        </p:txBody>
      </p:sp>
      <p:sp>
        <p:nvSpPr>
          <p:cNvPr id="6" name="Rectangle 5"/>
          <p:cNvSpPr/>
          <p:nvPr/>
        </p:nvSpPr>
        <p:spPr>
          <a:xfrm>
            <a:off x="5394960" y="3611880"/>
            <a:ext cx="731520" cy="36576"/>
          </a:xfrm>
          <a:prstGeom prst="rect">
            <a:avLst/>
          </a:prstGeom>
          <a:solidFill>
            <a:srgbClr val="C4A3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126480" y="3611880"/>
            <a:ext cx="640080" cy="36576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31520" y="3840480"/>
            <a:ext cx="106984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D8F0E4"/>
                </a:solidFill>
                <a:latin typeface="Calibri"/>
              </a:rPr>
              <a:t>KPI — Key Performance Indicator Project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297680"/>
            <a:ext cx="1069848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Calibri"/>
              </a:rPr>
              <a:t>Punjab Land Records Authority (PLRA)  |  Government of the Punjab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6492240"/>
            <a:ext cx="11247120" cy="256032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888888"/>
                </a:solidFill>
                <a:latin typeface="Calibri"/>
              </a:rPr>
              <a:t>Punjab Land Records Authority (PLRA)  |  KPI Project</a:t>
            </a:r>
          </a:p>
        </p:txBody>
      </p:sp>
    </p:spTree>
  </p:cSld>
  <p:clrMapOvr>
    <a:masterClrMapping/>
  </p:clrMapOvr>
  <p:transition spd="med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