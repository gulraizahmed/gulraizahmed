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8803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109728"/>
          </a:xfrm>
          <a:prstGeom prst="rect">
            <a:avLst/>
          </a:prstGeom>
          <a:solidFill>
            <a:srgbClr val="1B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PUNJAB LAND RECORDS AUTHORITY (PLRA)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Punjab Zameen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D8F0E4"/>
                </a:solidFill>
                <a:latin typeface="Calibri"/>
              </a:rPr>
              <a:t>Citizen-Facing Digital Land Services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11+ Integrated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32004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Enterprise interoperability across provincial departments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19" y="33832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End-to-End Digital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4023360"/>
            <a:ext cx="32004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GPC, Record Copy, Payments, Complaints &amp; more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8" y="338328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8" y="35661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Citizen Empowerment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8" y="4023360"/>
            <a:ext cx="32004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Verified holdings, online payments, and status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Formal walkthrough of Punjab Zameen modules and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3949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475488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1. Why Punjab Zameen Remodeling?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2. Integrated Enterprise Ecosystem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3. Home Screen Service Cards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4. My Properties &amp; GPC Workflow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5. Approved Housing Society (HSMS)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6. Get Record Copy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7. Payment Gateway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8. Complaints Module (CMS)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9. Arazi Muawin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9496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08760"/>
            <a:ext cx="4754880" cy="4297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10. Revenue Court Cases (RCMS)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11. e-Registration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12. e-Stamp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13. Property Tax (PTS)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14. e-Leasing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15. Community Module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16. Digital Vault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17. Notifications &amp; Messaging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18. Closing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STRATEGIC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Why Punjab Zameen Remodeling?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From fragmented legacy access to a unified citizen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Citizen Empowerment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Direct access to verified property holdings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GPC requests and tax payments without middlemen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Self-service digital land journeys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Enterprise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Standardized RESTful APIs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Connecting 11+ provincial government systems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Single front-end for PLRA services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Financial Transparency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Automated fee calculation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PSID tracking and reconciliation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Duplicate-payment safeguards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Access to PLRA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Multiple PLRA services from one platform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Reduced citizen load on offices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Live status, vault storage, and guidance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3" dur="50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5" dur="50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6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7" dur="50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8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9" dur="50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 advClick="1">
    <p:wipe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INTEGRATED ENTERPRISE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Seamless Interoperability Across 10+ Government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Punjab Zameen as the citizen front-end to PLRA and partner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716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CIMS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Central Identity
Management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13716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572768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CLRMIS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993392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Computerized Land Records
Management Information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13716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1572768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Payment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993392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Online challan fee
collection &amp; reconciliation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3716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1572768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HSMS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993392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Housing Society
Management System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1240" y="137160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1572768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RCMS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1993392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Revenue Court
Management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953512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1546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Arazi Muawin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75304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Franchise centers &amp;
land facilitation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88920" y="2953512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1546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CMS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3575304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Complaint
Management System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66360" y="2953512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31546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e-Registration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575304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Property registration
pipeline &amp; deed copies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2953512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31546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e-Stamping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575304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Stamp instrument
fee &amp; papers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21240" y="2953512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12680" y="31546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PTS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575304"/>
            <a:ext cx="2011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Property Tax
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61772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Plus My Properties / GPC, Digital Vault, Community, and Notifications as platform capabilities connecting these systems for citizens.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APPLICATION HOME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Service Cards on Punjab Zameen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Each card opens a complete integrated system or module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4630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08176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My Properties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1907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GPC &amp; actionable property 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28016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7288" y="14630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408176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Approved Housing Society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71907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HSMS — GIS &amp; plot verification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8016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19088" y="14630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408176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Get Record Copy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71907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Fard, Registry, Mutation, Girdawari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1280160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90888" y="146304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1408176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Complaints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71907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CMS — register &amp; track grievances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258568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" y="244144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386584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Payments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2697480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Payment Gateway for challans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2258568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47288" y="244144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69080" y="2386584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Revenue Court Cases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2697480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RCMS — cases, cause lists, judgments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258568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19088" y="244144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2386584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Arazi Muawin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2697480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Franchise locator &amp; applications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2258568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90888" y="244144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86584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e-Registration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697480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Registration pipeline &amp; deeds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236976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75488" y="341985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336499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e-Stamp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3675888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Stamp instruments &amp; fees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37560" y="3236976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447288" y="341985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69080" y="336499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Property Tax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675888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PTS — tax search &amp; settlement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09360" y="3236976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19088" y="341985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36499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e-Leasing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675888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Schemes, deposits &amp; live bidding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281160" y="3236976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390888" y="341985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12680" y="3364992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Community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675888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Discussions, guides &amp; practitioners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23460" y="4215384"/>
            <a:ext cx="28346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933188" y="4398264"/>
            <a:ext cx="502920" cy="50292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E8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54980" y="4343400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Digital Vault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4980" y="4654296"/>
            <a:ext cx="1965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Certificates, deeds &amp; receipts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My Properties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Actionable property hub — from static list to service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AS-IS — Static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Legacy app showed a plain static list of properties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Zero functions or services could be performed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No direct actions from property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0817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TO-BE — Actionable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1907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Initiate Green Property Certificates (GPC)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Request Fard / Registry copies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Check court cases &amp; transfer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3756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Property Categories (each tab shows total count)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0332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3886200"/>
            <a:ext cx="347472" cy="347472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13632"/>
            <a:ext cx="2743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4A32"/>
                </a:solidFill>
                <a:latin typeface="Calibri"/>
              </a:rPr>
              <a:t>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Complete inventory of properties linked to the logged-in citizen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70332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34840" y="3886200"/>
            <a:ext cx="347472" cy="347472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913632"/>
            <a:ext cx="2743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4A32"/>
                </a:solidFill>
                <a:latin typeface="Calibri"/>
              </a:rPr>
              <a:t>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34340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Properties confirmed against CLRMIS / ownership checks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0332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0" y="3886200"/>
            <a:ext cx="347472" cy="347472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913632"/>
            <a:ext cx="27432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4A32"/>
                </a:solidFill>
                <a:latin typeface="Calibri"/>
              </a:rPr>
              <a:t>Unverified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43400"/>
            <a:ext cx="324612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Properties awaiting verification or ownership confirmation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Green Property Certificate (GPC)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End-to-End Digital Certification Pipeline for 100% Owned 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9573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100% Ownership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System verifies 100% ownership share in CLRMIS.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CLRMIS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3739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70704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6891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 Capture &amp; English 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5179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Auto-retrieves Urdu details; captures applicant English name.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8603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PZA App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4870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41836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022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Mobile OTP Verification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6310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Validates 6-digit OTP sent to registered mobile.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9734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SMS Gateway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6001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912967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9153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Survey Representative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7441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Nominate optional representative for physical survey.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60865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PZA 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77133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4098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0285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SCO/ARC Verification &amp; PSID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573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Officer verifies record; generates PSID fee challan.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31997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LAMP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48264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255230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1416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Physical Survey &amp; ADLR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9704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Survey team completes survey; ADLR grants final approval.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3128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LAMP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19395" y="1280160"/>
            <a:ext cx="1579691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926361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92547" y="2011680"/>
            <a:ext cx="1433387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GPC Issued &amp; Digital Vault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0835" y="3017520"/>
            <a:ext cx="1396811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Digital Certificate generated &amp; filed in Digital Vault.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4259" y="4709160"/>
            <a:ext cx="1469963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Digital Vault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3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4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5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6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7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8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9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0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1"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3" dur="50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  <p:par>
                    <p:cTn id="24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5" dur="500"/>
                            <p:tgtEl>
                              <p:spTgt spid="3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Approved Housing Society (HSMS)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GIS satellite visualization of approved societies, block boundaries, and plot legal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GIS Satellite 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Interactive map with zoom and pan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Full-screen polygon rendering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Block and society boundary overlays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Administrative Filters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District and Tehsil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Authority-Owned housing societies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Private Housing Society filters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Color-Coded Plot Statuses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Mortgage — Blue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Legal Case — Orange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Available — Green / Sold — Grey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Block &amp; Plot Cards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Plot size and key attributes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Last transfer date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Current legal / sale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Get Record Copy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Digitizing Fard, Registry &amp; Mutation copies with integrated payments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1234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107899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Expanded Service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10789920" cy="667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Get Fard Copy  •  Get Registry Copy  •  Get Mutation (Intiqal) Copy  •  Crop Inspection Reports (Girdawari)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Certified official copies with in-app fee settlement via Payment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36118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73152" cy="25603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169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Multi-Criteria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27832"/>
            <a:ext cx="3246120" cy="1993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Lookup by e-Stamp Number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Mutation Number / Registry Number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CNIC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2788920"/>
            <a:ext cx="36118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2788920"/>
            <a:ext cx="73152" cy="25603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9169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In-App Fee Settlement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227832"/>
            <a:ext cx="3246120" cy="1993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Dedicated Payment Gateway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Challan fee via Debit/Credit Card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Instant receipt &amp; vault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788920"/>
            <a:ext cx="3611880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788920"/>
            <a:ext cx="73152" cy="256032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9169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Source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227832"/>
            <a:ext cx="3246120" cy="1993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CLRMIS integration for land records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e-Stamp linkage where applicable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Secure digital delivery to citizen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Payment Gateway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Online payment of challans for Fard, e-Stamp, copy fee, and more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21488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6245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AS-IS — Manual Payment Bottlenecks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73352"/>
            <a:ext cx="5029200" cy="1581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Only basic Get Record Copy &amp; static history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No in-app payment gateway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Citizens visited bank booths for challan fee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Limited modules and fragmented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3444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234440"/>
            <a:ext cx="73152" cy="21488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6245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TO-BE — Integrated Payment Gateway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73352"/>
            <a:ext cx="5029200" cy="1581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CLRMIS + e-Stamp integrated fee collection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Debit/Credit card payments in-app &amp; web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Automated Digital Vault for receipts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Future expansion to RCMS, HSMS, Arazi Muawin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Three Integrated Components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3246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1. Citizen Web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Enter challan number, fetch details, and pay fee online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93192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4069080"/>
            <a:ext cx="3246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2. Punjab Zameen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434840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Payment card on home + Record Copy tab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93192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69080"/>
            <a:ext cx="3246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3. Admin Portal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34840"/>
            <a:ext cx="32461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Monitor, verify, reconcile, and audit all transactions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Payment Gateway — Supported Fees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Current collections and planned expansion across PLRA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30632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51206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Currently Supported — CLRMIS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5120640" cy="2496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Fard Fee (Copy Fee of Fard)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Mutation Fee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Crop Inspection Fee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Registry Fee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39496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30632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Currently Supported — E-Stamp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19072"/>
            <a:ext cx="5029200" cy="2496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Fee of all E-Stamp instruments / papers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Online settlement without bank booth visits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Receipt available for download &amp; vault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Audit-ready transaction logs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720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09160"/>
            <a:ext cx="106984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F4A32"/>
                </a:solidFill>
                <a:latin typeface="Calibri"/>
              </a:rPr>
              <a:t>Future Payment Gateway Integrations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74920"/>
            <a:ext cx="10698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RCMS  •  HSMS  •  Arazi Muawin  •  Additional PLRA systems via web portal &amp; Punjab Zameen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Online Payment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Citizen journey for challan fee payment via web portal &amp; Punjab Zameen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834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Enter Challan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Citizen enters PSID / challan number on portal or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Payment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2261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8487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5413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Fetch &amp; Review Details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3701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System retrieves and displays challan amount &amp; particulars.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7125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Payment Gateway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8140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5066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Click Pay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Proceed to the bank payment page securely.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6778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Bank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1567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87794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4719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Enter Card Details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Provide Debit / Credit card information.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6431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Bank Page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1220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37447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4372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Click Pay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2660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Authorize and complete the payment transaction.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6084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Bank Page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40873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87100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14025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Download Receipt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2313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Obtain payment receipt; store in Digital Vault.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5737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Digital Vault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3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4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5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6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7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8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9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0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1"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3" dur="50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 advClick="1">
    <p:wipe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Complaints Module (CMS)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Citizen grievance redressal integrated with CMS Helpdesk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73152" cy="2194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0817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Option 1 — Track My Complaint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5029200" cy="1627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Check complaint status in real time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Statuses: Pending, Resolved, Rejected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View timeline and official updates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Push notifications for progress changes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73152" cy="2194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0817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Option 2 — Register a Complaint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19072"/>
            <a:ext cx="5029200" cy="16276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Select complaint type / category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Fill required workflow form fields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Review → Edit (if needed) → Submit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Receive CMS reference number on success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03320"/>
            <a:ext cx="111556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03320"/>
            <a:ext cx="73152" cy="1600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31336"/>
            <a:ext cx="107899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Citizen Portal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42232"/>
            <a:ext cx="10789920" cy="1033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Register / log in, file complaints, monitor progress, and communicate with authorities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Synchronized category &amp; sub-category taxonomy from CMS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Attachments supported (documents/photos, up to 5MB) during complaint lodging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Complaints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Citizen Grievance Redressal Integrated with CMS Helpdesk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834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Category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Synchronized category &amp; sub-category taxonomy from CMS.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42261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8487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5413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Form &amp; Attachment Upload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3701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Enter complaint details; attach documents/photos (up to 5MB).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7125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PZA App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8140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5066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CMS Registration &amp; Ref 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Payload submitted via secure API; returns unique CMS Ref Number.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6778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1567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87794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4719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Helpdesk Assignment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CMS routes complaint to designated officer or district desk.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6431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CMS Helpdesk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1220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37447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4372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Live Progress Tracking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2660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Real-time timeline updates delivered via push notifications.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6084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PZA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40873" y="1280160"/>
            <a:ext cx="1858213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787100" y="1481328"/>
            <a:ext cx="365760" cy="365760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14025" y="2011680"/>
            <a:ext cx="171190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Resolution &amp; Feedback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2313" y="3017520"/>
            <a:ext cx="1675333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Citizen views official resolution text; rates resolution satisfaction.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5737" y="4709160"/>
            <a:ext cx="174848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3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  <p:par>
                    <p:cTn id="14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5" dur="50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6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7" dur="50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8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19" dur="50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20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1" dur="50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" fill="hold" delay="0" grpId="0" nodeType="clickEffect">
                      <p:stCondLst>
                        <p:cond delay="0"/>
                      </p:stCondLst>
                      <p:childTnLst>
                        <p:animEffect transition="in" filter="fade">
                          <p:cBhvr>
                            <p:cTn id="23" dur="50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 advClick="1">
    <p:push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Arazi Muawin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Locate authorized franchise centers and submit new franchise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GPS Proximity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Nearest Arazi Muawin office on interactive map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GPS proximity enhancements planned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Citizen-friendly discovery of centers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Dual View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Interactive GIS Map View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Filtered List View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Seamless toggle between modes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Direct Device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One-tap Call opens phone dialer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Navigate launches Google Maps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Faster real-world assistance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Franchise Application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Capture personal data &amp; CNIC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Office GPS &amp; infrastructure details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Tenancy and application particulars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Revenue Court Cases (RCMS)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Search cases, inspect cause lists, track hearings, and view judgments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Multi-Criteria Case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Case ID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Case Title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Case 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Complete Party Profiles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Clear Petitioner Name breakdown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Clear Respondent Name breakdown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Party visibility for litigants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Court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Court Name &amp; Presiding Judge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Date of Institution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Next Hearing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Chronological Case Timeline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Visual progression of case events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From Case Filed to Final Judgment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Hearing schedule visibility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e-Registration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Property registration pipeline tracking &amp; certified deed copies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Dynamic Task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active registration tasks by CNIC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Lookup by Task ID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Lookup by e-Stamp Challan Number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Registration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Buyer Name and Seller Name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Property Location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Registration Type and 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Vault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Certified registry deeds auto-saved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Filed instantly in Digital Vault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Downloadable signed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e-Stamp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Stamp instruments and online fee collection through Payment 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System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Dedicated e-Stamp card on home screen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Access stamp instruments / papers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Integrated with Payment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Payment Linkage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Enter challan and pay online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Debit / Credit card settlement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Downloadable payment receipt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Citizen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No physical bank booth for stamp fees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Faster registration journeys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Transparent fee tracking &amp;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Property Tax Module (PTS)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Excise integration for tax search, assessment verification &amp; instant settlement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Functionalities to be finalized — planned capabilities below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Multi-Criteria Tax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Property Tax Number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Property ID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Search by CNIC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4592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7393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Assessment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8483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Covered area &amp; assessment year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Current tax status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Surcharges visibility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Duplicate Payment Safeguard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7939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Locks settled tax bills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Prevents accidental re-payment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Protects citizen transactions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840480"/>
            <a:ext cx="5394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40480"/>
            <a:ext cx="73152" cy="1874519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684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Tax Verification Certificate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279392"/>
            <a:ext cx="5029200" cy="13075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Instant clear/not-clear status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Current fiscal year verification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Supports downstream land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CORE APPLICATION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e-Leasing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State land leasing schemes, security deposit settlement &amp; live bidding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Existing Lessee Portal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View active agreements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Lease durations &amp; payment schedules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Settle outstanding dues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Scheme Search &amp; 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Agricultural land schemes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Commercial land schemes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Industrial land schemes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Security Deposit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Settle deposit via PSID or card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Unlock bidding qualification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Transparent fee handling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Live Electronic Bidding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Real-time auction room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Live bid ticks &amp; highest bid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Countdown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PLATFORM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Community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Collaborative knowledge sharing, verified practitioner answers &amp; versioned guides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Real-Time Duplicate Prevention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Auto-searches existing discussions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Triggered while typing question title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Reduces repeated queries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Verified Practitioner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Only certified practitioners publish official answers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Moderators control quality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Trusted guidance for citizens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Threaded Discussions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Original askers post follow-ups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Conversation stays in same thread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Clear Q&amp;A continuity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Version-Controlled Guides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Official procedural guides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Fees, steps, and document lists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Revision notes maintained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PLATFORM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Digital Vault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Beyond basic service history — secure automated digital locker for issued documents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Evolution Beyond Service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Replaces passive history logs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Complete downloadable certified documents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Legally valid issued artifacts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32588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45389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Automatic Filing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Documents from 12+ government systems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Archived instantly on issuance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No manual citizen upload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Categorized Folders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GPC, Registries, Mutations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Fard &amp; Crop Reports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Property Tax Receipts &amp;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657600"/>
            <a:ext cx="53949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657600"/>
            <a:ext cx="73152" cy="2057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785616"/>
            <a:ext cx="502920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QR Seals &amp; PDF Sharing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96512"/>
            <a:ext cx="5029200" cy="1490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Download original signed PDFs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Instant QR authenticity verification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Secure share-ready 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PLATFORM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38912"/>
            <a:ext cx="112471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A2B4A"/>
                </a:solidFill>
                <a:latin typeface="Calibri"/>
              </a:rPr>
              <a:t>Notifications &amp; Messaging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59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Calibri"/>
              </a:rPr>
              <a:t>Multi-channel push, SMS OTP, and transactional messaging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Push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Real-time OS push alerts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Status changes &amp; hearing dates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Live bidding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Payment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Instant financial confirmations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PSID and transaction references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Supports vault filing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61188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17320"/>
            <a:ext cx="73152" cy="37947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545336"/>
            <a:ext cx="324612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4A32"/>
                </a:solidFill>
                <a:latin typeface="Calibri"/>
              </a:rPr>
              <a:t>Proclamation 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856232"/>
            <a:ext cx="3246120" cy="32278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Automated subscription notices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Public notices on linked properties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•  Keeps citizens informed proactively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37360"/>
            <a:ext cx="12191695" cy="31089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D8F0E4"/>
                </a:solidFill>
                <a:latin typeface="Calibri"/>
              </a:rPr>
              <a:t>Punjab Zameen — Empowering Citizens Through Digital Land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PUNJAB LAND RECORDS AUTHORITY (PLRA)  |  GOVT OF THE PUNJAB</a:t>
            </a:r>
          </a:p>
        </p:txBody>
      </p:sp>
    </p:spTree>
  </p:cSld>
  <p:clrMapOvr>
    <a:masterClrMapping/>
  </p:clrMapOvr>
  <p:transition spd="med" advClick="1">
    <p:wipe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