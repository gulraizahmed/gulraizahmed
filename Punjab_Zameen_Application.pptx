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37160"/>
          </a:xfrm>
          <a:prstGeom prst="rect">
            <a:avLst/>
          </a:prstGeom>
          <a:solidFill>
            <a:srgbClr val="2E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PUNJAB LAND RECORDS AUTHORITY (PLRA)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Punjab Zameen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8F0E4"/>
                </a:solidFill>
                <a:latin typeface="Calibri"/>
              </a:rPr>
              <a:t>Citizen-Facing Digital Land Services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11+ Integrated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Enterprise interoperability across provincial departments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34747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End-to-End Digital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69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GPC, Record Copy, Payments, Complaints &amp; more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8" y="34747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8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Citizen Empowerment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8" y="4069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Verified holdings, online payments, and status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Module-by-module walkthrough of Punjab Zameen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1. Why Punjab Zameen Remodeling?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2. Integrated Enterprise Ecosystem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3. My Properties &amp; GPC Workflow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4. Approved Housing Society (HSMS)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5. Get Record Copy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6. Update Personal Records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7. Application for Partition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8. Complaints Module (CMS)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9. Payment Gateway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10. Revenue Court Cases (RCMS)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11. Arazi Muawin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12. e-Registration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13. e-Stamp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14. Property Tax (PTS)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15. e-Leasing</a:t>
            </a:r>
          </a:p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16. Future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STRATEGIC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Why Punjab Zameen Remodeling?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From fragmented legacy access to a unified citizen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Citizen Empowerment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Direct access to verified property holdings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Initiate GPC requests without middlemen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Pay taxes and fees digitally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Enterprise Interoperability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Standardized RESTful APIs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Connecting 11+ provincial systems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Single platform for PLRA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Financial Transparency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Automated fee calculation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PSID tracking &amp; audit trail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Duplicate-payment safeguards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657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Access to PLRA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14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Multiple services from one app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Reduced citizen load on offices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Live status &amp; digital vault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INTEGRATED ENTERPRISE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Seamless Interoperability Across 10+ Government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Punjab Zameen as the citizen front-end to PLRA and partner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CIMS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Central Identity
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173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CLRMIS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Computerized Land Records
Management Information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4173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Payment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Online challan fee
collection &amp; reconciliation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173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HSMS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Housing Society
Management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14173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1645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RCMS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Revenue Court
Management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0175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Arazi Muawin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Franchise centers &amp;
land facilitation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0175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CMS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Complaint
Management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30175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e-Registration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Digital deed &amp;
registration services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30175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e-Stamping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Stamp instrument
fee &amp; papers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3017520"/>
            <a:ext cx="2194560" cy="14173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4A32"/>
                </a:solidFill>
                <a:latin typeface="Calibri"/>
              </a:rPr>
              <a:t>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Property Tax
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6B4A"/>
                </a:solidFill>
                <a:latin typeface="Calibri"/>
              </a:rPr>
              <a:t>My Properties also surfaces GPC (Green Property Certificate) as a complete actionable service hub.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APPLICATION HOME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Service Cards on Punjab Zameen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Each card opens a complete integrated system or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" y="15087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My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GPC &amp; actionable property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32588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Approved Housing Society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HSMS — GIS &amp; plot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32588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087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0024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Get Record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Fard, Registry, Mutation, Girdawari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32588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81744" y="15087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3536" y="14630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Update Personal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3536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Citizen profile &amp; record updates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33172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1208" y="25146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Application for Partition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Land partition applications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64992" y="233172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74720" y="25146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6512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Complaints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6512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CMS — register &amp; track grievances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8504" y="233172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28232" y="25146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0024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Payments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Payment Gateway for challans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72016" y="233172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251460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03536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Revenue Court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2788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RCMS — case status &amp; tracking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33756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1208" y="35204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3474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Arazi Muawin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3794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Franchise locator &amp; applications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64992" y="333756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474720" y="35204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96512" y="3474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e-Registration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3794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Digital registration services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18504" y="333756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28232" y="35204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0024" y="3474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e-Stamp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50024" y="3794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Stamp instruments &amp; fees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72016" y="333756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381744" y="35204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03536" y="3474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Property Tax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03536" y="3794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PTS — property tax services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41748" y="4343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951476" y="45262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3268" y="4480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e-Leasing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3268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Digital leasing workflows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My Properties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Actionable property hub — from static list to service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" cy="18288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AS-IS — Static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Legacy app showed a plain static list of properties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Zero functions or services could be performed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No direct actions from property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73152" cy="18288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TO-BE — Actionable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Initiate Green Property Certificates (GPC)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Request Fard / Registry copies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Check court cases &amp; transfer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4A32"/>
                </a:solidFill>
                <a:latin typeface="Calibri"/>
              </a:rPr>
              <a:t>Property Categories (with total counts)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4A32"/>
                </a:solidFill>
                <a:latin typeface="Calibri"/>
              </a:rPr>
              <a:t>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Complete inventory of properties linked to the logged-in citizen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49039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34840" y="3931920"/>
            <a:ext cx="365760" cy="36576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4A32"/>
                </a:solidFill>
                <a:latin typeface="Calibri"/>
              </a:rPr>
              <a:t>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434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Properties confirmed against CLRMIS / ownership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749039"/>
            <a:ext cx="3611880" cy="155448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0" y="3931920"/>
            <a:ext cx="365760" cy="365760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977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4A32"/>
                </a:solidFill>
                <a:latin typeface="Calibri"/>
              </a:rPr>
              <a:t>Unverified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348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Properties awaiting verification or ownership confirmation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Green Property Certificate (GPC)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End-to-End Digital Certification Pipeline for 100% Owned Land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1556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6105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13732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100% Ownership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3063240"/>
            <a:ext cx="133672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System verifies 100% ownership share in CLRMIS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4663439"/>
            <a:ext cx="14098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CLRMIS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5946" y="1325880"/>
            <a:ext cx="1556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72011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7386" y="2103120"/>
            <a:ext cx="13732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Data Capture &amp; English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5674" y="3063240"/>
            <a:ext cx="133672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Auto-retrieves Urdu details; captures applicant English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9098" y="4663439"/>
            <a:ext cx="14098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PZA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1852" y="1325880"/>
            <a:ext cx="1556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37917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3292" y="2103120"/>
            <a:ext cx="13732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Mobile OTP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1580" y="3063240"/>
            <a:ext cx="133672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Validates 6-digit OTP sent to registered 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5004" y="4663439"/>
            <a:ext cx="14098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SMS Gateway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17758" y="1325880"/>
            <a:ext cx="1556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03823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9198" y="2103120"/>
            <a:ext cx="13732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Survey Representative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7486" y="3063240"/>
            <a:ext cx="133672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Nominate optional representative for physical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0910" y="4663439"/>
            <a:ext cx="14098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PZA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83664" y="1325880"/>
            <a:ext cx="1556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69729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5104" y="2103120"/>
            <a:ext cx="13732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SCO/ARC Verification &amp; PSID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3392" y="3063240"/>
            <a:ext cx="133672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Officer verifies record; generates PSID fee challan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6816" y="4663439"/>
            <a:ext cx="14098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LAMP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9570" y="1325880"/>
            <a:ext cx="1556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35635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1010" y="2103120"/>
            <a:ext cx="13732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Physical Survey &amp; ADLR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298" y="3063240"/>
            <a:ext cx="133672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Survey team completes survey; ADLR grants final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2722" y="4663439"/>
            <a:ext cx="14098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LAMP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15476" y="1325880"/>
            <a:ext cx="155617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01541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6916" y="2103120"/>
            <a:ext cx="13732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GPC Issued &amp; Digital Vault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5204" y="3063240"/>
            <a:ext cx="133672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Digital Certificate generated &amp; filed in Digital Vault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8628" y="4663439"/>
            <a:ext cx="14098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Digital Vault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Approved Housing Society (HSMS)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GIS satellite visualization of approved societies, block boundaries, and plot legal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GIS Satellite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Interactive map with zoom and pan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Full-screen polygon rendering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Block and society boundary overlays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Administrative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Search by District and Tehsil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Filter Authority-Owned societies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Filter Private Housing Societies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Color-Coded Plot Statuses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Mortgage — Blue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Legal Case — Orange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Available — Green / Sold — Grey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657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Block &amp; Plot 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14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Plot size and attributes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Last transfer date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Current legal / sale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Get Record Copy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Digitizing Fard, Registry &amp; Mutation copies with integrated payments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" cy="123444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Expanded Service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Get Fard Copy  •  Get Registry Copy  •  Get Mutation (Intiqal) Copy  •  Crop Inspection Reports (Girdawari)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Certified official copies with in-app fee settlement via Payment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73152" cy="24688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Multi-Criteria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32461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Lookup by e-Stamp Number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Mutation Number / Registry Number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Search by CNIC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83464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834640"/>
            <a:ext cx="73152" cy="24688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9718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In-App Fee Settlement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91840"/>
            <a:ext cx="32461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Dedicated Payment Gateway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Challan fee via Debit/Credit Card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Instant receipt &amp; vault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24688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9718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Source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91840"/>
            <a:ext cx="32461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CLRMIS integration for land records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e-Stamp linkage where applicable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Secure digital delivery to citizen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Update Personal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Keep citizen identity and contact data synchronized for land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Profile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Update personal information linked to land services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Ensure CNIC and contact data remain current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Reduce failed OTP / delivery 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Service Continuity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Accurate records required for GPC and payments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Supports complaint and court case notifications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Aligned with CIMS identity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Citizen Convenience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Self-service updates from Punjab Zameen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Fewer office visits for demographic corrections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Faster processing of downstream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Application for Partition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Digital intake for land partition requests initiated from Punjab Zameen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Enable citizens to apply for partition of land holdings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Reduce manual paper-based submission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Connect applications to backend PLRA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Citizen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Select property from My Properties hub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Submit partition application details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Track progress within the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Transparent application status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Less dependency on intermediaries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Aligned with digital land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Complaints Module (CMS)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Citizen grievance redressal integrated with CMS Helpdesk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" cy="214884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Option 1 — Track My Complaint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Check complaint status in real time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Statuses: Pending, Resolved, Rejected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View timeline and official updates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Push notifications for progress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73152" cy="214884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Option 2 — Register a Complaint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Select complaint type / category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Fill required workflow form fields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Review → Edit (if needed) → Submit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Receive CMS reference number on success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03320"/>
            <a:ext cx="11155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73152" cy="1600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Citizen Portal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Register / log in, file complaints, monitor progress, and communicate with authorities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Synchronized category &amp; sub-category taxonomy from CMS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Attachments supported (documents/photos, up to 5MB) during complaint lodging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Complaints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Citizen Grievance Redressal Integrated with CMS Helpdesk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930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Category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Synchronized category &amp; sub-category taxonomy from CMS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CMS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3597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88487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5037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Form &amp; Attachment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3325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Enter complaint details; attach documents/photos (up to 5MB)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6749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PZA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7154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2044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8594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CMS Registration &amp; Ref 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6882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Payload submitted via secure API; returns unique CMS Ref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0306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CMS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0711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75602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2151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Helpdesk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0439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CMS routes complaint to designated officer or district 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3863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CMS Helpdesk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4268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19159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5708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Live Progress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3996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Real-time timeline updates delivered via push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7420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PZA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37825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62716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9265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Resolution &amp;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7553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Citizen views official resolution text; rates resolution satisfaction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10977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CMS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Payment Gateway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Online payment of challans for Fard, e-Stamp, copy fee, and more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19456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AS-IS — Manual Payment Bottlenecks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Only basic Get Record Copy &amp; static history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No in-app payment gateway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Citizens visited bank booths for challan fee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Limited modules and fragmented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73152" cy="219456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TO-BE — Integrated Payment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CLRMIS + e-Stamp integrated fee collection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Debit/Credit card payments in-app &amp; web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Automated Digital Vault for receipts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Community module for guidance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4A32"/>
                </a:solidFill>
                <a:latin typeface="Calibri"/>
              </a:rPr>
              <a:t>Three Integrated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4A32"/>
                </a:solidFill>
                <a:latin typeface="Calibri"/>
              </a:rPr>
              <a:t>1. Citizen Web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Enter challan number, fetch details, and pay fee online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02336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1605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4A32"/>
                </a:solidFill>
                <a:latin typeface="Calibri"/>
              </a:rPr>
              <a:t>2. Punjab Zameen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5262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Payment card on home + Record Copy tab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02336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6052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4A32"/>
                </a:solidFill>
                <a:latin typeface="Calibri"/>
              </a:rPr>
              <a:t>3. Admin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2628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Monitor, verify, reconcile, and audit all 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Payment Gateway — Supported Fees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Current collections and planned expansion across PLRA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4864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3152" cy="301752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Currently Supported — CLRMIS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Fard Fee (Copy Fee of Fard)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Mutation Fee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Crop Inspection Fee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Registry Fee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73152" cy="301752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Currently Supported — E-Stamp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Fee of all E-Stamp instruments / papers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Online settlement without bank booth visits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Receipt available for download &amp; vault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Audit-ready transaction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09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4A32"/>
                </a:solidFill>
                <a:latin typeface="Calibri"/>
              </a:rPr>
              <a:t>Future Payment Gateway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RCMS  •  HSMS  •  Arazi Muawin  •  Additional PLRA systems via web portal &amp; Punjab Zameen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Online Payment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Citizen journey for challan fee payment via web portal &amp; Punjab Zameen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4930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Enter Challan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Citizen enters PSID / challan number on portal or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Payment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3597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88487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5037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Fetch &amp; Review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3325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System retrieves and displays challan amount &amp; particulars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6749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Payment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7154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32044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8594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Click Pay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6882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Proceed to the bank payment page securely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0306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Bank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0711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75602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2151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Enter Card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0439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Provide Debit / Credit card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3863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Bank Page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4268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19159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5708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Click 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3996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Authorize and complete the payment transaction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7420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Bank Page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37825" y="1325880"/>
            <a:ext cx="1833829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62716" y="1554480"/>
            <a:ext cx="384048" cy="384048"/>
          </a:xfrm>
          <a:prstGeom prst="ellipse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9265" y="2103120"/>
            <a:ext cx="165094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Download Receipt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7553" y="3063240"/>
            <a:ext cx="161437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Calibri"/>
              </a:rPr>
              <a:t>Obtain payment receipt; store in Digital Vault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10977" y="4663439"/>
            <a:ext cx="16875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6B4A"/>
                </a:solidFill>
                <a:latin typeface="Calibri"/>
              </a:rPr>
              <a:t>System: Digital Vault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Revenue Court Cases (RCMS)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Revenue Court Management System — case visibility from Punjab Zameen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What Citizens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Access revenue court case information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Track case status from the mobile app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Reduce dependency on physical court desks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System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Powered by RCMS backend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Linked from home screen card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Fits enterprise interoperability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Future Enablement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Planned Payment Gateway linkage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Online fee settlement for RCMS challans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Unified citizen experience with other PLRA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Arazi Muawin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Locate authorized franchise centers and submit new franchise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GPS Proximity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Nearest Arazi Muawin office on interactive map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GPS proximity enhancements planned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Citizen-friendly discovery of centers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Dual View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Interactive GIS Map View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Filtered List View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Seamless toggle between modes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Direct Device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One-tap Call opens phone dialer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Navigate launches Google Maps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Faster real-world assistance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657600"/>
            <a:ext cx="73152" cy="20116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Franchise Application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148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Capture personal data &amp; CNIC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Office GPS &amp; infrastructure details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Tenancy and application particulars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e-Registration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Digital registration services integrated into Punjab Zameen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System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Dedicated e-Registration system card on home screen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Citizen access to registration-related services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Part of the 10+ system enterprise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148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148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Citizen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Reduced need for multiple portals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Consistent identity via CIMS where applicable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Aligned digital land transaction journey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576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436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Platform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6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Accessible from Punjab Zameen menu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Complements e-Stamp and Record Copy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Supports end-to-end property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e-Stamp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Stamp instruments and online fee collection through Payment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Access e-Stamp services from the app card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Fee of e-Stamp instruments / papers supported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Integrated with Payment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148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148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Payment Linkage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Enter challan and pay online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Debit / Credit card settlement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Downloadable payment receipt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576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436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Citizen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6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No physical bank booth for stamp fees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Faster completion of registration journeys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Transparent fee tracking &amp;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Property Tax (PTS)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Property Tax System services available from Punjab Zameen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System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Dedicated Property Tax card on home screen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PTS as an integrated government system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Citizen self-service entry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148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148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Citizen Empowerment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Tax-related actions without middlemen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Visibility into property tax obligations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Consistent with remodeling 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576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436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6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Works alongside My Properties &amp; Payments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Supports financial transparency goals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Extends PLRA digital service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CORE APPLICATION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e-Leasing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Digital leasing workflows surfaced through Punjab Zameen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Module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Dedicated e-Leasing system card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Citizen access to leasing-related services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Complements ownership and registration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148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148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Digital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Initiate leasing processes from the app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Reduce paper-based leasing coordination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Trackable digital interactions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1463040"/>
            <a:ext cx="35814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576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4360" y="1600200"/>
            <a:ext cx="3215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Platform Benefit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60" y="1920240"/>
            <a:ext cx="3215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Single-app access to PLRA services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Interoperable enterprise architecture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Lower citizen load on physical offices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4A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4A"/>
                </a:solidFill>
                <a:latin typeface="Calibri"/>
              </a:rPr>
              <a:t>Future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Expanding Payment Gateway and system reach across web portal &amp; mobile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Payment Gateway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RCMS challan fee online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HSMS payment enablement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Arazi Muawin fee collection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More PLRA systems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Punjab Zameen mobile application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Citizen Payment Gateway web portal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Admin portal for reconciliation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Digital Vault for receipts &amp; certificates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73152" cy="36576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4A32"/>
                </a:solidFill>
                <a:latin typeface="Calibri"/>
              </a:rPr>
              <a:t>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246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Fewer bank booth visits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Faster service completion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Stronger audit &amp; transparency</a:t>
            </a:r>
          </a:p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•  Unified citizen land services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292608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8F0E4"/>
                </a:solidFill>
                <a:latin typeface="Calibri"/>
              </a:rPr>
              <a:t>Punjab Zameen — Empowering Citizens Through Digital Land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PUNJAB LAND RECORDS AUTHORITY (PLRA)  |  GOVT OF THE PUNJAB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